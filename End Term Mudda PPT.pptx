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b2tXV7LCfq4nPp7iWFBEjEiAc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pic>
        <p:nvPicPr>
          <p:cNvPr id="17" name="Google Shape;17;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6"/>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11" name="Google Shape;1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6.jpg"/><Relationship Id="rId5" Type="http://schemas.openxmlformats.org/officeDocument/2006/relationships/image" Target="../media/image18.jp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11.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32.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3.png"/><Relationship Id="rId10" Type="http://schemas.openxmlformats.org/officeDocument/2006/relationships/image" Target="../media/image25.png"/><Relationship Id="rId9" Type="http://schemas.openxmlformats.org/officeDocument/2006/relationships/image" Target="../media/image30.png"/><Relationship Id="rId5" Type="http://schemas.openxmlformats.org/officeDocument/2006/relationships/image" Target="../media/image12.png"/><Relationship Id="rId6" Type="http://schemas.openxmlformats.org/officeDocument/2006/relationships/image" Target="../media/image37.png"/><Relationship Id="rId7" Type="http://schemas.openxmlformats.org/officeDocument/2006/relationships/image" Target="../media/image15.png"/><Relationship Id="rId8"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43.png"/><Relationship Id="rId13" Type="http://schemas.openxmlformats.org/officeDocument/2006/relationships/image" Target="../media/image38.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hyperlink" Target="https://github.com/Cipher3003/Mudda" TargetMode="External"/><Relationship Id="rId9" Type="http://schemas.openxmlformats.org/officeDocument/2006/relationships/image" Target="../media/image34.png"/><Relationship Id="rId15" Type="http://schemas.openxmlformats.org/officeDocument/2006/relationships/image" Target="../media/image42.png"/><Relationship Id="rId14" Type="http://schemas.openxmlformats.org/officeDocument/2006/relationships/image" Target="../media/image25.png"/><Relationship Id="rId17" Type="http://schemas.openxmlformats.org/officeDocument/2006/relationships/image" Target="../media/image45.png"/><Relationship Id="rId16" Type="http://schemas.openxmlformats.org/officeDocument/2006/relationships/image" Target="../media/image40.png"/><Relationship Id="rId5" Type="http://schemas.openxmlformats.org/officeDocument/2006/relationships/hyperlink" Target="https://mudda-dashboard.vercel.app/" TargetMode="External"/><Relationship Id="rId6" Type="http://schemas.openxmlformats.org/officeDocument/2006/relationships/hyperlink" Target="https://github.com/DivSaumil/mudda_frontend" TargetMode="External"/><Relationship Id="rId7" Type="http://schemas.openxmlformats.org/officeDocument/2006/relationships/hyperlink" Target="https://github.com/ShubhPundir/Mudda-AI-Workflow" TargetMode="External"/><Relationship Id="rId8"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44.png"/><Relationship Id="rId6" Type="http://schemas.openxmlformats.org/officeDocument/2006/relationships/image" Target="../media/image48.png"/><Relationship Id="rId7" Type="http://schemas.openxmlformats.org/officeDocument/2006/relationships/image" Target="../media/image46.png"/><Relationship Id="rId8"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1.jpg"/><Relationship Id="rId5" Type="http://schemas.openxmlformats.org/officeDocument/2006/relationships/image" Target="../media/image5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 name="Shape 32"/>
        <p:cNvGrpSpPr/>
        <p:nvPr/>
      </p:nvGrpSpPr>
      <p:grpSpPr>
        <a:xfrm>
          <a:off x="0" y="0"/>
          <a:ext cx="0" cy="0"/>
          <a:chOff x="0" y="0"/>
          <a:chExt cx="0" cy="0"/>
        </a:xfrm>
      </p:grpSpPr>
      <p:sp>
        <p:nvSpPr>
          <p:cNvPr id="33" name="Google Shape;33;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None/>
            </a:pPr>
            <a:r>
              <a:t/>
            </a:r>
            <a:endParaRPr sz="4800"/>
          </a:p>
          <a:p>
            <a:pPr indent="0" lvl="0" marL="0" rtl="0" algn="ctr">
              <a:lnSpc>
                <a:spcPct val="90000"/>
              </a:lnSpc>
              <a:spcBef>
                <a:spcPts val="1000"/>
              </a:spcBef>
              <a:spcAft>
                <a:spcPts val="0"/>
              </a:spcAft>
              <a:buClr>
                <a:schemeClr val="dk1"/>
              </a:buClr>
              <a:buSzPts val="4800"/>
              <a:buNone/>
            </a:pPr>
            <a:r>
              <a:rPr lang="en-US" sz="4800"/>
              <a:t>Final Year Project (End term) </a:t>
            </a:r>
            <a:endParaRPr/>
          </a:p>
          <a:p>
            <a:pPr indent="0" lvl="0" marL="0" rtl="0" algn="ctr">
              <a:lnSpc>
                <a:spcPct val="90000"/>
              </a:lnSpc>
              <a:spcBef>
                <a:spcPts val="1000"/>
              </a:spcBef>
              <a:spcAft>
                <a:spcPts val="0"/>
              </a:spcAft>
              <a:buClr>
                <a:schemeClr val="dk1"/>
              </a:buClr>
              <a:buSzPts val="4800"/>
              <a:buNone/>
            </a:pPr>
            <a:r>
              <a:rPr lang="en-US" sz="4800"/>
              <a:t>2025</a:t>
            </a:r>
            <a:endParaRPr sz="4800"/>
          </a:p>
        </p:txBody>
      </p:sp>
      <p:pic>
        <p:nvPicPr>
          <p:cNvPr id="34" name="Google Shape;34;p1"/>
          <p:cNvPicPr preferRelativeResize="0"/>
          <p:nvPr/>
        </p:nvPicPr>
        <p:blipFill rotWithShape="1">
          <a:blip r:embed="rId3">
            <a:alphaModFix/>
          </a:blip>
          <a:srcRect b="0" l="0" r="0" t="0"/>
          <a:stretch/>
        </p:blipFill>
        <p:spPr>
          <a:xfrm>
            <a:off x="10576560" y="309542"/>
            <a:ext cx="1040149" cy="10313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 name="Shape 38"/>
        <p:cNvGrpSpPr/>
        <p:nvPr/>
      </p:nvGrpSpPr>
      <p:grpSpPr>
        <a:xfrm>
          <a:off x="0" y="0"/>
          <a:ext cx="0" cy="0"/>
          <a:chOff x="0" y="0"/>
          <a:chExt cx="0" cy="0"/>
        </a:xfrm>
      </p:grpSpPr>
      <p:sp>
        <p:nvSpPr>
          <p:cNvPr id="39" name="Google Shape;39;p2"/>
          <p:cNvSpPr txBox="1"/>
          <p:nvPr/>
        </p:nvSpPr>
        <p:spPr>
          <a:xfrm>
            <a:off x="0" y="996954"/>
            <a:ext cx="12192000" cy="690564"/>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90000"/>
              </a:lnSpc>
              <a:spcBef>
                <a:spcPts val="0"/>
              </a:spcBef>
              <a:spcAft>
                <a:spcPts val="0"/>
              </a:spcAft>
              <a:buClr>
                <a:schemeClr val="dk1"/>
              </a:buClr>
              <a:buSzPts val="4400"/>
              <a:buFont typeface="Arial"/>
              <a:buNone/>
            </a:pPr>
            <a:r>
              <a:rPr b="1" i="0" lang="en-US" sz="4400" u="none" cap="none" strike="noStrike">
                <a:solidFill>
                  <a:schemeClr val="dk1"/>
                </a:solidFill>
                <a:latin typeface="Arial"/>
                <a:ea typeface="Arial"/>
                <a:cs typeface="Arial"/>
                <a:sym typeface="Arial"/>
              </a:rPr>
              <a:t>MUDDA</a:t>
            </a:r>
            <a:endParaRPr b="1" i="0" sz="3200" u="none" cap="none" strike="noStrike">
              <a:solidFill>
                <a:schemeClr val="dk1"/>
              </a:solidFill>
              <a:latin typeface="Arial"/>
              <a:ea typeface="Arial"/>
              <a:cs typeface="Arial"/>
              <a:sym typeface="Arial"/>
            </a:endParaRPr>
          </a:p>
        </p:txBody>
      </p:sp>
      <p:sp>
        <p:nvSpPr>
          <p:cNvPr id="40" name="Google Shape;40;p2"/>
          <p:cNvSpPr txBox="1"/>
          <p:nvPr/>
        </p:nvSpPr>
        <p:spPr>
          <a:xfrm>
            <a:off x="6561178" y="2795618"/>
            <a:ext cx="5075600" cy="1655762"/>
          </a:xfrm>
          <a:prstGeom prst="rect">
            <a:avLst/>
          </a:prstGeom>
          <a:noFill/>
          <a:ln>
            <a:noFill/>
          </a:ln>
        </p:spPr>
        <p:txBody>
          <a:bodyPr anchorCtr="0" anchor="t" bIns="45700" lIns="91425" spcFirstLastPara="1" rIns="91425" wrap="square" tIns="45700">
            <a:normAutofit fontScale="92500" lnSpcReduction="10000"/>
          </a:bodyPr>
          <a:lstStyle/>
          <a:p>
            <a:pPr indent="-227329" lvl="0" marL="240029" marR="0" rtl="0" algn="l">
              <a:lnSpc>
                <a:spcPct val="100000"/>
              </a:lnSpc>
              <a:spcBef>
                <a:spcPts val="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Saumil Kulshreshtha (22CSU158)</a:t>
            </a:r>
            <a:endParaRPr/>
          </a:p>
          <a:p>
            <a:pPr indent="-227329" lvl="0" marL="240029" marR="0" rtl="0" algn="l">
              <a:lnSpc>
                <a:spcPct val="100000"/>
              </a:lnSpc>
              <a:spcBef>
                <a:spcPts val="805"/>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Shivesh Kumar Dhiman (22CSU164)</a:t>
            </a:r>
            <a:endParaRPr/>
          </a:p>
          <a:p>
            <a:pPr indent="-227329" lvl="0" marL="240029" marR="0" rtl="0" algn="l">
              <a:lnSpc>
                <a:spcPct val="100000"/>
              </a:lnSpc>
              <a:spcBef>
                <a:spcPts val="805"/>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Shubh Pundir (22CSU165)</a:t>
            </a:r>
            <a:endParaRPr/>
          </a:p>
          <a:p>
            <a:pPr indent="-227329" lvl="0" marL="240029" marR="0" rtl="0" algn="l">
              <a:lnSpc>
                <a:spcPct val="100000"/>
              </a:lnSpc>
              <a:spcBef>
                <a:spcPts val="805"/>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Vikas Kumar (22CSU190)</a:t>
            </a:r>
            <a:endParaRPr b="0" i="0" sz="2400" u="none" cap="none" strike="noStrike">
              <a:solidFill>
                <a:schemeClr val="dk1"/>
              </a:solidFill>
              <a:latin typeface="Arial"/>
              <a:ea typeface="Arial"/>
              <a:cs typeface="Arial"/>
              <a:sym typeface="Arial"/>
            </a:endParaRPr>
          </a:p>
        </p:txBody>
      </p:sp>
      <p:sp>
        <p:nvSpPr>
          <p:cNvPr id="41" name="Google Shape;41;p2"/>
          <p:cNvSpPr txBox="1"/>
          <p:nvPr/>
        </p:nvSpPr>
        <p:spPr>
          <a:xfrm>
            <a:off x="379639" y="2876153"/>
            <a:ext cx="5405864" cy="1655762"/>
          </a:xfrm>
          <a:prstGeom prst="rect">
            <a:avLst/>
          </a:prstGeom>
          <a:noFill/>
          <a:ln>
            <a:noFill/>
          </a:ln>
        </p:spPr>
        <p:txBody>
          <a:bodyPr anchorCtr="0" anchor="t" bIns="45700" lIns="91425" spcFirstLastPara="1" rIns="91425" wrap="square" tIns="45700">
            <a:normAutofit/>
          </a:bodyPr>
          <a:lstStyle/>
          <a:p>
            <a:pPr indent="0" lvl="0" marL="127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Supervisor (s): Dr. Shilpa Mahajan</a:t>
            </a:r>
            <a:endParaRPr/>
          </a:p>
          <a:p>
            <a:pPr indent="0" lvl="0" marL="12700" marR="0" rtl="0" algn="l">
              <a:lnSpc>
                <a:spcPct val="100000"/>
              </a:lnSpc>
              <a:spcBef>
                <a:spcPts val="1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sp>
        <p:nvSpPr>
          <p:cNvPr id="42" name="Google Shape;42;p2"/>
          <p:cNvSpPr txBox="1"/>
          <p:nvPr/>
        </p:nvSpPr>
        <p:spPr>
          <a:xfrm>
            <a:off x="1290638" y="5515764"/>
            <a:ext cx="9144000" cy="690563"/>
          </a:xfrm>
          <a:prstGeom prst="rect">
            <a:avLst/>
          </a:prstGeom>
          <a:noFill/>
          <a:ln>
            <a:noFill/>
          </a:ln>
        </p:spPr>
        <p:txBody>
          <a:bodyPr anchorCtr="0" anchor="b" bIns="45700" lIns="91425" spcFirstLastPara="1" rIns="91425" wrap="square" tIns="45700">
            <a:normAutofit/>
          </a:bodyPr>
          <a:lstStyle/>
          <a:p>
            <a:pPr indent="0" lvl="0" marL="12700" marR="0" rtl="0" algn="ctr">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SOET: CSE 2022 - 2026</a:t>
            </a:r>
            <a:endParaRPr b="0" i="0" sz="2800" u="none" cap="none" strike="noStrike">
              <a:solidFill>
                <a:schemeClr val="dk1"/>
              </a:solidFill>
              <a:latin typeface="Arial"/>
              <a:ea typeface="Arial"/>
              <a:cs typeface="Arial"/>
              <a:sym typeface="Arial"/>
            </a:endParaRPr>
          </a:p>
        </p:txBody>
      </p:sp>
      <p:pic>
        <p:nvPicPr>
          <p:cNvPr id="43" name="Google Shape;43;p2"/>
          <p:cNvPicPr preferRelativeResize="0"/>
          <p:nvPr/>
        </p:nvPicPr>
        <p:blipFill rotWithShape="1">
          <a:blip r:embed="rId3">
            <a:alphaModFix/>
          </a:blip>
          <a:srcRect b="0" l="0" r="0" t="0"/>
          <a:stretch/>
        </p:blipFill>
        <p:spPr>
          <a:xfrm>
            <a:off x="10586442" y="198086"/>
            <a:ext cx="1050336" cy="10414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 name="Shape 47"/>
        <p:cNvGrpSpPr/>
        <p:nvPr/>
      </p:nvGrpSpPr>
      <p:grpSpPr>
        <a:xfrm>
          <a:off x="0" y="0"/>
          <a:ext cx="0" cy="0"/>
          <a:chOff x="0" y="0"/>
          <a:chExt cx="0" cy="0"/>
        </a:xfrm>
      </p:grpSpPr>
      <p:pic>
        <p:nvPicPr>
          <p:cNvPr id="48" name="Google Shape;48;p3"/>
          <p:cNvPicPr preferRelativeResize="0"/>
          <p:nvPr/>
        </p:nvPicPr>
        <p:blipFill rotWithShape="1">
          <a:blip r:embed="rId3">
            <a:alphaModFix/>
          </a:blip>
          <a:srcRect b="0" l="0" r="0" t="0"/>
          <a:stretch/>
        </p:blipFill>
        <p:spPr>
          <a:xfrm>
            <a:off x="10759440" y="230188"/>
            <a:ext cx="969029" cy="960816"/>
          </a:xfrm>
          <a:prstGeom prst="rect">
            <a:avLst/>
          </a:prstGeom>
          <a:noFill/>
          <a:ln>
            <a:noFill/>
          </a:ln>
        </p:spPr>
      </p:pic>
      <p:sp>
        <p:nvSpPr>
          <p:cNvPr id="49" name="Google Shape;49;p3"/>
          <p:cNvSpPr txBox="1"/>
          <p:nvPr>
            <p:ph type="title"/>
          </p:nvPr>
        </p:nvSpPr>
        <p:spPr>
          <a:xfrm>
            <a:off x="228599" y="640104"/>
            <a:ext cx="2796611" cy="1767792"/>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3800"/>
              <a:buFont typeface="Calibri"/>
              <a:buNone/>
            </a:pPr>
            <a:r>
              <a:rPr lang="en-US" sz="3800"/>
              <a:t>Description of the Broad Topic</a:t>
            </a:r>
            <a:endParaRPr sz="3800"/>
          </a:p>
        </p:txBody>
      </p:sp>
      <p:pic>
        <p:nvPicPr>
          <p:cNvPr descr="A screenshot of a cartoon of two people" id="50" name="Google Shape;50;p3"/>
          <p:cNvPicPr preferRelativeResize="0"/>
          <p:nvPr/>
        </p:nvPicPr>
        <p:blipFill rotWithShape="1">
          <a:blip r:embed="rId4">
            <a:alphaModFix/>
          </a:blip>
          <a:srcRect b="1371" l="1162" r="1161" t="3523"/>
          <a:stretch/>
        </p:blipFill>
        <p:spPr>
          <a:xfrm>
            <a:off x="3296593" y="421042"/>
            <a:ext cx="6400800" cy="6172200"/>
          </a:xfrm>
          <a:prstGeom prst="rect">
            <a:avLst/>
          </a:prstGeom>
          <a:noFill/>
          <a:ln>
            <a:noFill/>
          </a:ln>
        </p:spPr>
      </p:pic>
      <p:pic>
        <p:nvPicPr>
          <p:cNvPr descr="12+ Thousand Broken Road Icon Royalty-Free Images, Stock Photos &amp; Pictures  | Shutterstock" id="51" name="Google Shape;51;p3"/>
          <p:cNvPicPr preferRelativeResize="0"/>
          <p:nvPr/>
        </p:nvPicPr>
        <p:blipFill rotWithShape="1">
          <a:blip r:embed="rId5">
            <a:alphaModFix/>
          </a:blip>
          <a:srcRect b="22000" l="28666" r="28666" t="23333"/>
          <a:stretch/>
        </p:blipFill>
        <p:spPr>
          <a:xfrm>
            <a:off x="455531" y="3429000"/>
            <a:ext cx="1000125" cy="1281410"/>
          </a:xfrm>
          <a:prstGeom prst="rect">
            <a:avLst/>
          </a:prstGeom>
          <a:noFill/>
          <a:ln>
            <a:noFill/>
          </a:ln>
        </p:spPr>
      </p:pic>
      <p:pic>
        <p:nvPicPr>
          <p:cNvPr descr="Hand pump - Free farming and gardening icons" id="52" name="Google Shape;52;p3"/>
          <p:cNvPicPr preferRelativeResize="0"/>
          <p:nvPr/>
        </p:nvPicPr>
        <p:blipFill rotWithShape="1">
          <a:blip r:embed="rId6">
            <a:alphaModFix/>
          </a:blip>
          <a:srcRect b="0" l="0" r="0" t="0"/>
          <a:stretch/>
        </p:blipFill>
        <p:spPr>
          <a:xfrm>
            <a:off x="1851869" y="5169384"/>
            <a:ext cx="1048512" cy="1048512"/>
          </a:xfrm>
          <a:prstGeom prst="rect">
            <a:avLst/>
          </a:prstGeom>
          <a:noFill/>
          <a:ln>
            <a:noFill/>
          </a:ln>
        </p:spPr>
      </p:pic>
      <p:pic>
        <p:nvPicPr>
          <p:cNvPr descr="Broken Water Pump Icons - Free SVG &amp; PNG Broken Water Pump Images - Noun  Project" id="53" name="Google Shape;53;p3"/>
          <p:cNvPicPr preferRelativeResize="0"/>
          <p:nvPr/>
        </p:nvPicPr>
        <p:blipFill rotWithShape="1">
          <a:blip r:embed="rId7">
            <a:alphaModFix/>
          </a:blip>
          <a:srcRect b="0" l="0" r="0" t="0"/>
          <a:stretch/>
        </p:blipFill>
        <p:spPr>
          <a:xfrm>
            <a:off x="10225088" y="4610930"/>
            <a:ext cx="1333500" cy="1333500"/>
          </a:xfrm>
          <a:prstGeom prst="rect">
            <a:avLst/>
          </a:prstGeom>
          <a:noFill/>
          <a:ln>
            <a:noFill/>
          </a:ln>
        </p:spPr>
      </p:pic>
      <p:pic>
        <p:nvPicPr>
          <p:cNvPr descr="Tree Cutting Icons - Free SVG &amp; PNG Tree Cutting Images - Noun Project" id="54" name="Google Shape;54;p3"/>
          <p:cNvPicPr preferRelativeResize="0"/>
          <p:nvPr/>
        </p:nvPicPr>
        <p:blipFill rotWithShape="1">
          <a:blip r:embed="rId8">
            <a:alphaModFix/>
          </a:blip>
          <a:srcRect b="0" l="0" r="0" t="0"/>
          <a:stretch/>
        </p:blipFill>
        <p:spPr>
          <a:xfrm>
            <a:off x="1770796" y="2004646"/>
            <a:ext cx="1524000" cy="1524000"/>
          </a:xfrm>
          <a:prstGeom prst="rect">
            <a:avLst/>
          </a:prstGeom>
          <a:noFill/>
          <a:ln>
            <a:noFill/>
          </a:ln>
        </p:spPr>
      </p:pic>
      <p:pic>
        <p:nvPicPr>
          <p:cNvPr descr="broken traffic light - Stock Illustration [108795285] - PIXTA" id="55" name="Google Shape;55;p3"/>
          <p:cNvPicPr preferRelativeResize="0"/>
          <p:nvPr/>
        </p:nvPicPr>
        <p:blipFill rotWithShape="1">
          <a:blip r:embed="rId9">
            <a:alphaModFix/>
          </a:blip>
          <a:srcRect b="6965" l="-3556" r="3556" t="-6966"/>
          <a:stretch/>
        </p:blipFill>
        <p:spPr>
          <a:xfrm>
            <a:off x="9820275" y="1890712"/>
            <a:ext cx="2143126" cy="15382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pic>
        <p:nvPicPr>
          <p:cNvPr id="60" name="Google Shape;60;p4"/>
          <p:cNvPicPr preferRelativeResize="0"/>
          <p:nvPr/>
        </p:nvPicPr>
        <p:blipFill rotWithShape="1">
          <a:blip r:embed="rId3">
            <a:alphaModFix/>
          </a:blip>
          <a:srcRect b="0" l="0" r="0" t="0"/>
          <a:stretch/>
        </p:blipFill>
        <p:spPr>
          <a:xfrm>
            <a:off x="10749280" y="131426"/>
            <a:ext cx="979189" cy="970890"/>
          </a:xfrm>
          <a:prstGeom prst="rect">
            <a:avLst/>
          </a:prstGeom>
          <a:noFill/>
          <a:ln>
            <a:noFill/>
          </a:ln>
        </p:spPr>
      </p:pic>
      <p:sp>
        <p:nvSpPr>
          <p:cNvPr id="61" name="Google Shape;61;p4"/>
          <p:cNvSpPr/>
          <p:nvPr/>
        </p:nvSpPr>
        <p:spPr>
          <a:xfrm>
            <a:off x="6514346" y="1620248"/>
            <a:ext cx="5181600" cy="4668570"/>
          </a:xfrm>
          <a:prstGeom prst="roundRect">
            <a:avLst>
              <a:gd fmla="val 16667" name="adj"/>
            </a:avLst>
          </a:prstGeom>
          <a:solidFill>
            <a:srgbClr val="CBD3DD"/>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 name="Google Shape;62;p4"/>
          <p:cNvSpPr txBox="1"/>
          <p:nvPr/>
        </p:nvSpPr>
        <p:spPr>
          <a:xfrm>
            <a:off x="6629400" y="2113915"/>
            <a:ext cx="5105400" cy="418576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A </a:t>
            </a:r>
            <a:r>
              <a:rPr b="1" i="0" lang="en-US" sz="1400" u="none" cap="none" strike="noStrike">
                <a:solidFill>
                  <a:schemeClr val="dk1"/>
                </a:solidFill>
                <a:latin typeface="Calibri"/>
                <a:ea typeface="Calibri"/>
                <a:cs typeface="Calibri"/>
                <a:sym typeface="Calibri"/>
              </a:rPr>
              <a:t>single centralized mobile app</a:t>
            </a:r>
            <a:r>
              <a:rPr b="0" i="0" lang="en-US" sz="1400" u="none" cap="none" strike="noStrike">
                <a:solidFill>
                  <a:schemeClr val="dk1"/>
                </a:solidFill>
                <a:latin typeface="Calibri"/>
                <a:ea typeface="Calibri"/>
                <a:cs typeface="Calibri"/>
                <a:sym typeface="Calibri"/>
              </a:rPr>
              <a:t> to raise and manage civic issues.</a:t>
            </a:r>
            <a:endParaRPr/>
          </a:p>
          <a:p>
            <a:pPr indent="-285750" lvl="0" marL="285750" marR="0" rtl="0" algn="l">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Social-media inspired design</a:t>
            </a:r>
            <a:r>
              <a:rPr b="0" i="0" lang="en-US" sz="1400" u="none" cap="none" strike="noStrike">
                <a:solidFill>
                  <a:schemeClr val="dk1"/>
                </a:solidFill>
                <a:latin typeface="Calibri"/>
                <a:ea typeface="Calibri"/>
                <a:cs typeface="Calibri"/>
                <a:sym typeface="Calibri"/>
              </a:rPr>
              <a:t> → easy adoption and engagement.</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Real-time status updates on each complaint.</a:t>
            </a:r>
            <a:endParaRPr/>
          </a:p>
          <a:p>
            <a:pPr indent="-285750" lvl="0" marL="285750" marR="0" rtl="0" algn="l">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Geo-tagging &amp; maps</a:t>
            </a:r>
            <a:r>
              <a:rPr b="0" i="0" lang="en-US" sz="1400" u="none" cap="none" strike="noStrike">
                <a:solidFill>
                  <a:schemeClr val="dk1"/>
                </a:solidFill>
                <a:latin typeface="Calibri"/>
                <a:ea typeface="Calibri"/>
                <a:cs typeface="Calibri"/>
                <a:sym typeface="Calibri"/>
              </a:rPr>
              <a:t> for accurate location-based issue reporting.</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Upload photos/videos as </a:t>
            </a:r>
            <a:r>
              <a:rPr b="1" i="0" lang="en-US" sz="1400" u="none" cap="none" strike="noStrike">
                <a:solidFill>
                  <a:schemeClr val="dk1"/>
                </a:solidFill>
                <a:latin typeface="Calibri"/>
                <a:ea typeface="Calibri"/>
                <a:cs typeface="Calibri"/>
                <a:sym typeface="Calibri"/>
              </a:rPr>
              <a:t>visual evidence</a:t>
            </a:r>
            <a:r>
              <a:rPr b="0" i="0" lang="en-US" sz="1400" u="none" cap="none" strike="noStrike">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Citizens can upvote, like, or comment on issues → </a:t>
            </a:r>
            <a:r>
              <a:rPr b="1" i="0" lang="en-US" sz="1400" u="none" cap="none" strike="noStrike">
                <a:solidFill>
                  <a:schemeClr val="dk1"/>
                </a:solidFill>
                <a:latin typeface="Calibri"/>
                <a:ea typeface="Calibri"/>
                <a:cs typeface="Calibri"/>
                <a:sym typeface="Calibri"/>
              </a:rPr>
              <a:t>community validation</a:t>
            </a:r>
            <a:r>
              <a:rPr b="0" i="0" lang="en-US" sz="1400" u="none" cap="none" strike="noStrike">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Automated </a:t>
            </a:r>
            <a:r>
              <a:rPr b="1" i="0" lang="en-US" sz="1400" u="none" cap="none" strike="noStrike">
                <a:solidFill>
                  <a:schemeClr val="dk1"/>
                </a:solidFill>
                <a:latin typeface="Calibri"/>
                <a:ea typeface="Calibri"/>
                <a:cs typeface="Calibri"/>
                <a:sym typeface="Calibri"/>
              </a:rPr>
              <a:t>categorization &amp; duplicate detection</a:t>
            </a:r>
            <a:r>
              <a:rPr b="0" i="0" lang="en-US" sz="1400" u="none" cap="none" strike="noStrike">
                <a:solidFill>
                  <a:schemeClr val="dk1"/>
                </a:solidFill>
                <a:latin typeface="Calibri"/>
                <a:ea typeface="Calibri"/>
                <a:cs typeface="Calibri"/>
                <a:sym typeface="Calibri"/>
              </a:rPr>
              <a:t> using AI.</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Clear responsibility mapping  shows which authority is handling the issue.</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Dashboards for government → efficient </a:t>
            </a:r>
            <a:r>
              <a:rPr b="1" i="0" lang="en-US" sz="1400" u="none" cap="none" strike="noStrike">
                <a:solidFill>
                  <a:schemeClr val="dk1"/>
                </a:solidFill>
                <a:latin typeface="Calibri"/>
                <a:ea typeface="Calibri"/>
                <a:cs typeface="Calibri"/>
                <a:sym typeface="Calibri"/>
              </a:rPr>
              <a:t>monitoring &amp; prioritization</a:t>
            </a:r>
            <a:r>
              <a:rPr b="0" i="0" lang="en-US" sz="1400" u="none" cap="none" strike="noStrike">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Transparent communication loop between citizens and officials.</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Notifications for citizens → </a:t>
            </a:r>
            <a:r>
              <a:rPr b="1" i="0" lang="en-US" sz="1400" u="none" cap="none" strike="noStrike">
                <a:solidFill>
                  <a:schemeClr val="dk1"/>
                </a:solidFill>
                <a:latin typeface="Calibri"/>
                <a:ea typeface="Calibri"/>
                <a:cs typeface="Calibri"/>
                <a:sym typeface="Calibri"/>
              </a:rPr>
              <a:t>timely updates</a:t>
            </a:r>
            <a:r>
              <a:rPr b="0" i="0" lang="en-US" sz="1400" u="none" cap="none" strike="noStrike">
                <a:solidFill>
                  <a:schemeClr val="dk1"/>
                </a:solidFill>
                <a:latin typeface="Calibri"/>
                <a:ea typeface="Calibri"/>
                <a:cs typeface="Calibri"/>
                <a:sym typeface="Calibri"/>
              </a:rPr>
              <a:t> on resolution.</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 name="Google Shape;63;p4"/>
          <p:cNvSpPr txBox="1"/>
          <p:nvPr/>
        </p:nvSpPr>
        <p:spPr>
          <a:xfrm>
            <a:off x="7047746" y="1744583"/>
            <a:ext cx="4114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Solutions offered</a:t>
            </a:r>
            <a:endParaRPr b="1" sz="1800">
              <a:solidFill>
                <a:schemeClr val="dk1"/>
              </a:solidFill>
              <a:latin typeface="Calibri"/>
              <a:ea typeface="Calibri"/>
              <a:cs typeface="Calibri"/>
              <a:sym typeface="Calibri"/>
            </a:endParaRPr>
          </a:p>
        </p:txBody>
      </p:sp>
      <p:sp>
        <p:nvSpPr>
          <p:cNvPr id="64" name="Google Shape;64;p4"/>
          <p:cNvSpPr txBox="1"/>
          <p:nvPr>
            <p:ph type="title"/>
          </p:nvPr>
        </p:nvSpPr>
        <p:spPr>
          <a:xfrm>
            <a:off x="381000" y="279876"/>
            <a:ext cx="6803390" cy="505908"/>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3200"/>
              <a:buFont typeface="Calibri"/>
              <a:buNone/>
            </a:pPr>
            <a:r>
              <a:rPr lang="en-US" sz="3200"/>
              <a:t>Problem Statement</a:t>
            </a:r>
            <a:endParaRPr sz="3200"/>
          </a:p>
        </p:txBody>
      </p:sp>
      <p:sp>
        <p:nvSpPr>
          <p:cNvPr id="65" name="Google Shape;65;p4"/>
          <p:cNvSpPr txBox="1"/>
          <p:nvPr/>
        </p:nvSpPr>
        <p:spPr>
          <a:xfrm>
            <a:off x="419099" y="921414"/>
            <a:ext cx="1008714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Mudda is a </a:t>
            </a:r>
            <a:r>
              <a:rPr b="1" lang="en-US" sz="1600">
                <a:solidFill>
                  <a:schemeClr val="dk1"/>
                </a:solidFill>
                <a:latin typeface="Calibri"/>
                <a:ea typeface="Calibri"/>
                <a:cs typeface="Calibri"/>
                <a:sym typeface="Calibri"/>
              </a:rPr>
              <a:t>social-media</a:t>
            </a:r>
            <a:r>
              <a:rPr lang="en-US" sz="1600">
                <a:solidFill>
                  <a:schemeClr val="dk1"/>
                </a:solidFill>
                <a:latin typeface="Calibri"/>
                <a:ea typeface="Calibri"/>
                <a:cs typeface="Calibri"/>
                <a:sym typeface="Calibri"/>
              </a:rPr>
              <a:t> inspired platform that empowers citizens to </a:t>
            </a:r>
            <a:r>
              <a:rPr b="1" lang="en-US" sz="1600">
                <a:solidFill>
                  <a:schemeClr val="dk1"/>
                </a:solidFill>
                <a:latin typeface="Calibri"/>
                <a:ea typeface="Calibri"/>
                <a:cs typeface="Calibri"/>
                <a:sym typeface="Calibri"/>
              </a:rPr>
              <a:t>raise and track</a:t>
            </a:r>
            <a:r>
              <a:rPr lang="en-US" sz="1600">
                <a:solidFill>
                  <a:schemeClr val="dk1"/>
                </a:solidFill>
                <a:latin typeface="Calibri"/>
                <a:ea typeface="Calibri"/>
                <a:cs typeface="Calibri"/>
                <a:sym typeface="Calibri"/>
              </a:rPr>
              <a:t> </a:t>
            </a:r>
            <a:r>
              <a:rPr b="1" lang="en-US" sz="1600">
                <a:solidFill>
                  <a:schemeClr val="dk1"/>
                </a:solidFill>
                <a:latin typeface="Calibri"/>
                <a:ea typeface="Calibri"/>
                <a:cs typeface="Calibri"/>
                <a:sym typeface="Calibri"/>
              </a:rPr>
              <a:t>civic issues</a:t>
            </a:r>
            <a:r>
              <a:rPr lang="en-US" sz="1600">
                <a:solidFill>
                  <a:schemeClr val="dk1"/>
                </a:solidFill>
                <a:latin typeface="Calibri"/>
                <a:ea typeface="Calibri"/>
                <a:cs typeface="Calibri"/>
                <a:sym typeface="Calibri"/>
              </a:rPr>
              <a:t> </a:t>
            </a:r>
            <a:r>
              <a:rPr b="1" lang="en-US" sz="1600">
                <a:solidFill>
                  <a:schemeClr val="dk1"/>
                </a:solidFill>
                <a:latin typeface="Calibri"/>
                <a:ea typeface="Calibri"/>
                <a:cs typeface="Calibri"/>
                <a:sym typeface="Calibri"/>
              </a:rPr>
              <a:t>transparently</a:t>
            </a:r>
            <a:r>
              <a:rPr lang="en-US" sz="1600">
                <a:solidFill>
                  <a:schemeClr val="dk1"/>
                </a:solidFill>
                <a:latin typeface="Calibri"/>
                <a:ea typeface="Calibri"/>
                <a:cs typeface="Calibri"/>
                <a:sym typeface="Calibri"/>
              </a:rPr>
              <a:t>. It bridges the gap between the public and government authorities by ensuring </a:t>
            </a:r>
            <a:r>
              <a:rPr b="1" lang="en-US" sz="1600">
                <a:solidFill>
                  <a:schemeClr val="dk1"/>
                </a:solidFill>
                <a:latin typeface="Calibri"/>
                <a:ea typeface="Calibri"/>
                <a:cs typeface="Calibri"/>
                <a:sym typeface="Calibri"/>
              </a:rPr>
              <a:t>accountability, real-time updates, and community engagement.</a:t>
            </a:r>
            <a:endParaRPr b="1" sz="1600">
              <a:solidFill>
                <a:schemeClr val="dk1"/>
              </a:solidFill>
              <a:latin typeface="Calibri"/>
              <a:ea typeface="Calibri"/>
              <a:cs typeface="Calibri"/>
              <a:sym typeface="Calibri"/>
            </a:endParaRPr>
          </a:p>
        </p:txBody>
      </p:sp>
      <p:sp>
        <p:nvSpPr>
          <p:cNvPr id="66" name="Google Shape;66;p4"/>
          <p:cNvSpPr/>
          <p:nvPr/>
        </p:nvSpPr>
        <p:spPr>
          <a:xfrm>
            <a:off x="430040" y="1803875"/>
            <a:ext cx="5284960" cy="4571287"/>
          </a:xfrm>
          <a:prstGeom prst="roundRect">
            <a:avLst>
              <a:gd fmla="val 16667" name="adj"/>
            </a:avLst>
          </a:prstGeom>
          <a:solidFill>
            <a:srgbClr val="F7CAAC"/>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4"/>
          <p:cNvSpPr txBox="1"/>
          <p:nvPr/>
        </p:nvSpPr>
        <p:spPr>
          <a:xfrm>
            <a:off x="533400" y="2413476"/>
            <a:ext cx="5105400" cy="37557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Citizens face </a:t>
            </a:r>
            <a:r>
              <a:rPr b="1" lang="en-US" sz="1400">
                <a:solidFill>
                  <a:schemeClr val="dk1"/>
                </a:solidFill>
                <a:latin typeface="Calibri"/>
                <a:ea typeface="Calibri"/>
                <a:cs typeface="Calibri"/>
                <a:sym typeface="Calibri"/>
              </a:rPr>
              <a:t>recurring civic issues</a:t>
            </a:r>
            <a:r>
              <a:rPr lang="en-US" sz="1400">
                <a:solidFill>
                  <a:schemeClr val="dk1"/>
                </a:solidFill>
                <a:latin typeface="Calibri"/>
                <a:ea typeface="Calibri"/>
                <a:cs typeface="Calibri"/>
                <a:sym typeface="Calibri"/>
              </a:rPr>
              <a:t>: potholes, garbage, broken streetlights, water shortages.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Existing complaint methods (govt. offices, helplines, portals) are </a:t>
            </a:r>
            <a:r>
              <a:rPr b="1" lang="en-US" sz="1400">
                <a:solidFill>
                  <a:schemeClr val="dk1"/>
                </a:solidFill>
                <a:latin typeface="Calibri"/>
                <a:ea typeface="Calibri"/>
                <a:cs typeface="Calibri"/>
                <a:sym typeface="Calibri"/>
              </a:rPr>
              <a:t>slow, inefficient, and fragmented</a:t>
            </a:r>
            <a:r>
              <a:rPr lang="en-US" sz="14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No real-time tracking</a:t>
            </a:r>
            <a:r>
              <a:rPr lang="en-US" sz="1400">
                <a:solidFill>
                  <a:schemeClr val="dk1"/>
                </a:solidFill>
                <a:latin typeface="Calibri"/>
                <a:ea typeface="Calibri"/>
                <a:cs typeface="Calibri"/>
                <a:sym typeface="Calibri"/>
              </a:rPr>
              <a:t> of complaint status.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Lack of accountability</a:t>
            </a:r>
            <a:r>
              <a:rPr lang="en-US" sz="1400">
                <a:solidFill>
                  <a:schemeClr val="dk1"/>
                </a:solidFill>
                <a:latin typeface="Calibri"/>
                <a:ea typeface="Calibri"/>
                <a:cs typeface="Calibri"/>
                <a:sym typeface="Calibri"/>
              </a:rPr>
              <a:t> from authorities.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Citizens cannot see if others in their area face the same problem → </a:t>
            </a:r>
            <a:r>
              <a:rPr b="1" lang="en-US" sz="1400">
                <a:solidFill>
                  <a:schemeClr val="dk1"/>
                </a:solidFill>
                <a:latin typeface="Calibri"/>
                <a:ea typeface="Calibri"/>
                <a:cs typeface="Calibri"/>
                <a:sym typeface="Calibri"/>
              </a:rPr>
              <a:t>low community visibility.</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No way to </a:t>
            </a:r>
            <a:r>
              <a:rPr b="1" lang="en-US" sz="1400">
                <a:solidFill>
                  <a:schemeClr val="dk1"/>
                </a:solidFill>
                <a:latin typeface="Calibri"/>
                <a:ea typeface="Calibri"/>
                <a:cs typeface="Calibri"/>
                <a:sym typeface="Calibri"/>
              </a:rPr>
              <a:t>validate or prove complaints</a:t>
            </a:r>
            <a:r>
              <a:rPr lang="en-US" sz="1400">
                <a:solidFill>
                  <a:schemeClr val="dk1"/>
                </a:solidFill>
                <a:latin typeface="Calibri"/>
                <a:ea typeface="Calibri"/>
                <a:cs typeface="Calibri"/>
                <a:sym typeface="Calibri"/>
              </a:rPr>
              <a:t> without evidence (e.g., photos).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Data and administration for decision-making is </a:t>
            </a:r>
            <a:r>
              <a:rPr b="1" lang="en-US" sz="1400">
                <a:solidFill>
                  <a:schemeClr val="dk1"/>
                </a:solidFill>
                <a:latin typeface="Calibri"/>
                <a:ea typeface="Calibri"/>
                <a:cs typeface="Calibri"/>
                <a:sym typeface="Calibri"/>
              </a:rPr>
              <a:t>unstructured and underutilized</a:t>
            </a:r>
            <a:r>
              <a:rPr lang="en-US" sz="14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Government struggles with </a:t>
            </a:r>
            <a:r>
              <a:rPr b="1" lang="en-US" sz="1400">
                <a:solidFill>
                  <a:schemeClr val="dk1"/>
                </a:solidFill>
                <a:latin typeface="Calibri"/>
                <a:ea typeface="Calibri"/>
                <a:cs typeface="Calibri"/>
                <a:sym typeface="Calibri"/>
              </a:rPr>
              <a:t>prioritization and resource allocation</a:t>
            </a:r>
            <a:r>
              <a:rPr lang="en-US" sz="14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Citizens don’t know which department/authority is responsible.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Administration overhead of the government bodies are unable to scale and keep up efficiently for the rising civic issues.</a:t>
            </a:r>
            <a:endParaRPr/>
          </a:p>
        </p:txBody>
      </p:sp>
      <p:sp>
        <p:nvSpPr>
          <p:cNvPr id="68" name="Google Shape;68;p4"/>
          <p:cNvSpPr txBox="1"/>
          <p:nvPr/>
        </p:nvSpPr>
        <p:spPr>
          <a:xfrm>
            <a:off x="947307" y="2003544"/>
            <a:ext cx="4114800" cy="3678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Problems citizens face</a:t>
            </a:r>
            <a:endParaRPr b="1" sz="1800">
              <a:solidFill>
                <a:schemeClr val="dk1"/>
              </a:solidFill>
              <a:latin typeface="Calibri"/>
              <a:ea typeface="Calibri"/>
              <a:cs typeface="Calibri"/>
              <a:sym typeface="Calibri"/>
            </a:endParaRPr>
          </a:p>
        </p:txBody>
      </p:sp>
      <p:pic>
        <p:nvPicPr>
          <p:cNvPr id="69" name="Google Shape;69;p4"/>
          <p:cNvPicPr preferRelativeResize="0"/>
          <p:nvPr/>
        </p:nvPicPr>
        <p:blipFill rotWithShape="1">
          <a:blip r:embed="rId4">
            <a:alphaModFix/>
          </a:blip>
          <a:srcRect b="0" l="0" r="0" t="0"/>
          <a:stretch/>
        </p:blipFill>
        <p:spPr>
          <a:xfrm>
            <a:off x="4991592" y="4833277"/>
            <a:ext cx="620048" cy="620048"/>
          </a:xfrm>
          <a:prstGeom prst="rect">
            <a:avLst/>
          </a:prstGeom>
          <a:noFill/>
          <a:ln>
            <a:noFill/>
          </a:ln>
        </p:spPr>
      </p:pic>
      <p:pic>
        <p:nvPicPr>
          <p:cNvPr id="70" name="Google Shape;70;p4"/>
          <p:cNvPicPr preferRelativeResize="0"/>
          <p:nvPr/>
        </p:nvPicPr>
        <p:blipFill rotWithShape="1">
          <a:blip r:embed="rId5">
            <a:alphaModFix/>
          </a:blip>
          <a:srcRect b="0" l="0" r="0" t="0"/>
          <a:stretch/>
        </p:blipFill>
        <p:spPr>
          <a:xfrm>
            <a:off x="4601498" y="3123550"/>
            <a:ext cx="713452" cy="713452"/>
          </a:xfrm>
          <a:prstGeom prst="rect">
            <a:avLst/>
          </a:prstGeom>
          <a:noFill/>
          <a:ln>
            <a:noFill/>
          </a:ln>
        </p:spPr>
      </p:pic>
      <p:pic>
        <p:nvPicPr>
          <p:cNvPr id="71" name="Google Shape;71;p4"/>
          <p:cNvPicPr preferRelativeResize="0"/>
          <p:nvPr/>
        </p:nvPicPr>
        <p:blipFill rotWithShape="1">
          <a:blip r:embed="rId6">
            <a:alphaModFix/>
          </a:blip>
          <a:srcRect b="0" l="0" r="0" t="0"/>
          <a:stretch/>
        </p:blipFill>
        <p:spPr>
          <a:xfrm>
            <a:off x="11228970" y="2718276"/>
            <a:ext cx="509126" cy="509126"/>
          </a:xfrm>
          <a:prstGeom prst="rect">
            <a:avLst/>
          </a:prstGeom>
          <a:noFill/>
          <a:ln>
            <a:noFill/>
          </a:ln>
        </p:spPr>
      </p:pic>
      <p:pic>
        <p:nvPicPr>
          <p:cNvPr id="72" name="Google Shape;72;p4"/>
          <p:cNvPicPr preferRelativeResize="0"/>
          <p:nvPr/>
        </p:nvPicPr>
        <p:blipFill rotWithShape="1">
          <a:blip r:embed="rId7">
            <a:alphaModFix/>
          </a:blip>
          <a:srcRect b="0" l="0" r="0" t="0"/>
          <a:stretch/>
        </p:blipFill>
        <p:spPr>
          <a:xfrm>
            <a:off x="11029950" y="4744086"/>
            <a:ext cx="628650" cy="628650"/>
          </a:xfrm>
          <a:prstGeom prst="rect">
            <a:avLst/>
          </a:prstGeom>
          <a:noFill/>
          <a:ln>
            <a:noFill/>
          </a:ln>
        </p:spPr>
      </p:pic>
      <p:sp>
        <p:nvSpPr>
          <p:cNvPr id="73" name="Google Shape;73;p4"/>
          <p:cNvSpPr/>
          <p:nvPr/>
        </p:nvSpPr>
        <p:spPr>
          <a:xfrm>
            <a:off x="5819633" y="3765772"/>
            <a:ext cx="533400" cy="204300"/>
          </a:xfrm>
          <a:prstGeom prst="rightArrow">
            <a:avLst>
              <a:gd fmla="val 50000" name="adj1"/>
              <a:gd fmla="val 50000" name="adj2"/>
            </a:avLst>
          </a:prstGeom>
          <a:solidFill>
            <a:srgbClr val="CBD3DD"/>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4" name="Google Shape;74;p4"/>
          <p:cNvPicPr preferRelativeResize="0"/>
          <p:nvPr/>
        </p:nvPicPr>
        <p:blipFill rotWithShape="1">
          <a:blip r:embed="rId8">
            <a:alphaModFix/>
          </a:blip>
          <a:srcRect b="0" l="0" r="0" t="0"/>
          <a:stretch/>
        </p:blipFill>
        <p:spPr>
          <a:xfrm>
            <a:off x="4517201" y="1893181"/>
            <a:ext cx="558486" cy="558486"/>
          </a:xfrm>
          <a:prstGeom prst="rect">
            <a:avLst/>
          </a:prstGeom>
          <a:noFill/>
          <a:ln>
            <a:noFill/>
          </a:ln>
        </p:spPr>
      </p:pic>
      <p:pic>
        <p:nvPicPr>
          <p:cNvPr id="75" name="Google Shape;75;p4"/>
          <p:cNvPicPr preferRelativeResize="0"/>
          <p:nvPr/>
        </p:nvPicPr>
        <p:blipFill rotWithShape="1">
          <a:blip r:embed="rId9">
            <a:alphaModFix/>
          </a:blip>
          <a:srcRect b="0" l="0" r="0" t="0"/>
          <a:stretch/>
        </p:blipFill>
        <p:spPr>
          <a:xfrm>
            <a:off x="10506245" y="1660078"/>
            <a:ext cx="580101" cy="5801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 name="Shape 79"/>
        <p:cNvGrpSpPr/>
        <p:nvPr/>
      </p:nvGrpSpPr>
      <p:grpSpPr>
        <a:xfrm>
          <a:off x="0" y="0"/>
          <a:ext cx="0" cy="0"/>
          <a:chOff x="0" y="0"/>
          <a:chExt cx="0" cy="0"/>
        </a:xfrm>
      </p:grpSpPr>
      <p:pic>
        <p:nvPicPr>
          <p:cNvPr id="80" name="Google Shape;80;p5"/>
          <p:cNvPicPr preferRelativeResize="0"/>
          <p:nvPr/>
        </p:nvPicPr>
        <p:blipFill rotWithShape="1">
          <a:blip r:embed="rId3">
            <a:alphaModFix/>
          </a:blip>
          <a:srcRect b="0" l="0" r="0" t="0"/>
          <a:stretch/>
        </p:blipFill>
        <p:spPr>
          <a:xfrm>
            <a:off x="10576560" y="309542"/>
            <a:ext cx="1040149" cy="1031333"/>
          </a:xfrm>
          <a:prstGeom prst="rect">
            <a:avLst/>
          </a:prstGeom>
          <a:noFill/>
          <a:ln>
            <a:noFill/>
          </a:ln>
        </p:spPr>
      </p:pic>
      <p:sp>
        <p:nvSpPr>
          <p:cNvPr id="81" name="Google Shape;81;p5"/>
          <p:cNvSpPr txBox="1"/>
          <p:nvPr>
            <p:ph type="title"/>
          </p:nvPr>
        </p:nvSpPr>
        <p:spPr>
          <a:xfrm>
            <a:off x="-210795" y="714632"/>
            <a:ext cx="10515600" cy="556499"/>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200"/>
              <a:buFont typeface="Calibri"/>
              <a:buNone/>
            </a:pPr>
            <a:r>
              <a:rPr lang="en-US" sz="3200"/>
              <a:t>Objectives</a:t>
            </a:r>
            <a:endParaRPr sz="4400"/>
          </a:p>
        </p:txBody>
      </p:sp>
      <p:grpSp>
        <p:nvGrpSpPr>
          <p:cNvPr id="82" name="Google Shape;82;p5"/>
          <p:cNvGrpSpPr/>
          <p:nvPr/>
        </p:nvGrpSpPr>
        <p:grpSpPr>
          <a:xfrm>
            <a:off x="3872564" y="4147548"/>
            <a:ext cx="3249817" cy="2012875"/>
            <a:chOff x="4340382" y="3757478"/>
            <a:chExt cx="2812233" cy="1829886"/>
          </a:xfrm>
        </p:grpSpPr>
        <p:sp>
          <p:nvSpPr>
            <p:cNvPr id="83" name="Google Shape;83;p5"/>
            <p:cNvSpPr/>
            <p:nvPr/>
          </p:nvSpPr>
          <p:spPr>
            <a:xfrm>
              <a:off x="4340382" y="3757478"/>
              <a:ext cx="2743200" cy="1829886"/>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 name="Google Shape;84;p5"/>
            <p:cNvSpPr txBox="1"/>
            <p:nvPr/>
          </p:nvSpPr>
          <p:spPr>
            <a:xfrm>
              <a:off x="4428470" y="3893909"/>
              <a:ext cx="245444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Simplify Issue Resolving</a:t>
              </a:r>
              <a:endParaRPr b="1" sz="1800">
                <a:solidFill>
                  <a:schemeClr val="dk1"/>
                </a:solidFill>
                <a:latin typeface="Calibri"/>
                <a:ea typeface="Calibri"/>
                <a:cs typeface="Calibri"/>
                <a:sym typeface="Calibri"/>
              </a:endParaRPr>
            </a:p>
          </p:txBody>
        </p:sp>
        <p:sp>
          <p:nvSpPr>
            <p:cNvPr id="85" name="Google Shape;85;p5"/>
            <p:cNvSpPr txBox="1"/>
            <p:nvPr/>
          </p:nvSpPr>
          <p:spPr>
            <a:xfrm>
              <a:off x="4409415" y="4325138"/>
              <a:ext cx="27432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Users can report problems like potholes or broken lights with just a few taps, without needing to know complex official procedures.</a:t>
              </a:r>
              <a:endParaRPr sz="1400">
                <a:solidFill>
                  <a:schemeClr val="dk1"/>
                </a:solidFill>
                <a:latin typeface="Calibri"/>
                <a:ea typeface="Calibri"/>
                <a:cs typeface="Calibri"/>
                <a:sym typeface="Calibri"/>
              </a:endParaRPr>
            </a:p>
          </p:txBody>
        </p:sp>
      </p:grpSp>
      <p:grpSp>
        <p:nvGrpSpPr>
          <p:cNvPr id="86" name="Google Shape;86;p5"/>
          <p:cNvGrpSpPr/>
          <p:nvPr/>
        </p:nvGrpSpPr>
        <p:grpSpPr>
          <a:xfrm>
            <a:off x="7790205" y="4087265"/>
            <a:ext cx="3359590" cy="2012874"/>
            <a:chOff x="9162107" y="3204479"/>
            <a:chExt cx="2605134" cy="1643151"/>
          </a:xfrm>
        </p:grpSpPr>
        <p:sp>
          <p:nvSpPr>
            <p:cNvPr id="87" name="Google Shape;87;p5"/>
            <p:cNvSpPr/>
            <p:nvPr/>
          </p:nvSpPr>
          <p:spPr>
            <a:xfrm>
              <a:off x="9162107" y="3204479"/>
              <a:ext cx="2531397" cy="1643151"/>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5"/>
            <p:cNvSpPr txBox="1"/>
            <p:nvPr/>
          </p:nvSpPr>
          <p:spPr>
            <a:xfrm>
              <a:off x="9314507" y="3356879"/>
              <a:ext cx="226789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Visual Evidence</a:t>
              </a:r>
              <a:endParaRPr/>
            </a:p>
          </p:txBody>
        </p:sp>
        <p:sp>
          <p:nvSpPr>
            <p:cNvPr id="89" name="Google Shape;89;p5"/>
            <p:cNvSpPr txBox="1"/>
            <p:nvPr/>
          </p:nvSpPr>
          <p:spPr>
            <a:xfrm>
              <a:off x="9235818" y="3666528"/>
              <a:ext cx="2531423" cy="8567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Users can upload photos to provide clear visual proof of the issue, which helps officials understand the problem better.</a:t>
              </a:r>
              <a:endParaRPr sz="1400">
                <a:solidFill>
                  <a:schemeClr val="dk1"/>
                </a:solidFill>
                <a:latin typeface="Calibri"/>
                <a:ea typeface="Calibri"/>
                <a:cs typeface="Calibri"/>
                <a:sym typeface="Calibri"/>
              </a:endParaRPr>
            </a:p>
          </p:txBody>
        </p:sp>
      </p:grpSp>
      <p:sp>
        <p:nvSpPr>
          <p:cNvPr id="90" name="Google Shape;90;p5"/>
          <p:cNvSpPr/>
          <p:nvPr/>
        </p:nvSpPr>
        <p:spPr>
          <a:xfrm>
            <a:off x="398805" y="4071731"/>
            <a:ext cx="2926533" cy="2150222"/>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 name="Google Shape;91;p5"/>
          <p:cNvSpPr txBox="1"/>
          <p:nvPr/>
        </p:nvSpPr>
        <p:spPr>
          <a:xfrm>
            <a:off x="551205" y="4289553"/>
            <a:ext cx="2480930" cy="7109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Efficient Government Management</a:t>
            </a:r>
            <a:endParaRPr/>
          </a:p>
        </p:txBody>
      </p:sp>
      <p:sp>
        <p:nvSpPr>
          <p:cNvPr id="92" name="Google Shape;92;p5"/>
          <p:cNvSpPr txBox="1"/>
          <p:nvPr/>
        </p:nvSpPr>
        <p:spPr>
          <a:xfrm>
            <a:off x="520272" y="4906959"/>
            <a:ext cx="2926533" cy="10495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 centralized dashboard helps officials manage, prioritize, and resolve issues with structured, location-tagged data.</a:t>
            </a:r>
            <a:endParaRPr sz="1400">
              <a:solidFill>
                <a:schemeClr val="dk1"/>
              </a:solidFill>
              <a:latin typeface="Calibri"/>
              <a:ea typeface="Calibri"/>
              <a:cs typeface="Calibri"/>
              <a:sym typeface="Calibri"/>
            </a:endParaRPr>
          </a:p>
        </p:txBody>
      </p:sp>
      <p:sp>
        <p:nvSpPr>
          <p:cNvPr id="93" name="Google Shape;93;p5"/>
          <p:cNvSpPr/>
          <p:nvPr/>
        </p:nvSpPr>
        <p:spPr>
          <a:xfrm>
            <a:off x="436906" y="1639958"/>
            <a:ext cx="2819970" cy="1981371"/>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5"/>
          <p:cNvSpPr txBox="1"/>
          <p:nvPr/>
        </p:nvSpPr>
        <p:spPr>
          <a:xfrm>
            <a:off x="589306" y="1863954"/>
            <a:ext cx="2377150" cy="406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Real-Time Tracking</a:t>
            </a:r>
            <a:endParaRPr/>
          </a:p>
        </p:txBody>
      </p:sp>
      <p:sp>
        <p:nvSpPr>
          <p:cNvPr id="95" name="Google Shape;95;p5"/>
          <p:cNvSpPr txBox="1"/>
          <p:nvPr/>
        </p:nvSpPr>
        <p:spPr>
          <a:xfrm>
            <a:off x="551204" y="2205450"/>
            <a:ext cx="2617583" cy="12865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Citizens can see the live status of their reported issues and identify the responsible government authority, promoting accountability.</a:t>
            </a:r>
            <a:endParaRPr sz="1400">
              <a:solidFill>
                <a:schemeClr val="dk1"/>
              </a:solidFill>
              <a:latin typeface="Calibri"/>
              <a:ea typeface="Calibri"/>
              <a:cs typeface="Calibri"/>
              <a:sym typeface="Calibri"/>
            </a:endParaRPr>
          </a:p>
        </p:txBody>
      </p:sp>
      <p:grpSp>
        <p:nvGrpSpPr>
          <p:cNvPr id="96" name="Google Shape;96;p5"/>
          <p:cNvGrpSpPr/>
          <p:nvPr/>
        </p:nvGrpSpPr>
        <p:grpSpPr>
          <a:xfrm>
            <a:off x="3890321" y="1667895"/>
            <a:ext cx="3111612" cy="1927860"/>
            <a:chOff x="3362608" y="1356773"/>
            <a:chExt cx="2743200" cy="1752600"/>
          </a:xfrm>
        </p:grpSpPr>
        <p:sp>
          <p:nvSpPr>
            <p:cNvPr id="97" name="Google Shape;97;p5"/>
            <p:cNvSpPr/>
            <p:nvPr/>
          </p:nvSpPr>
          <p:spPr>
            <a:xfrm>
              <a:off x="3362608" y="1356773"/>
              <a:ext cx="2743200" cy="1752600"/>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5"/>
            <p:cNvSpPr txBox="1"/>
            <p:nvPr/>
          </p:nvSpPr>
          <p:spPr>
            <a:xfrm>
              <a:off x="3515008" y="1505215"/>
              <a:ext cx="2590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Community Engagement</a:t>
              </a:r>
              <a:endParaRPr/>
            </a:p>
          </p:txBody>
        </p:sp>
        <p:sp>
          <p:nvSpPr>
            <p:cNvPr id="99" name="Google Shape;99;p5"/>
            <p:cNvSpPr txBox="1"/>
            <p:nvPr/>
          </p:nvSpPr>
          <p:spPr>
            <a:xfrm>
              <a:off x="3484075" y="1875161"/>
              <a:ext cx="25908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The app allows users to interact with existing issues, increasing public awareness and creating collective pressure for solutions.</a:t>
              </a:r>
              <a:endParaRPr sz="1400">
                <a:solidFill>
                  <a:schemeClr val="dk1"/>
                </a:solidFill>
                <a:latin typeface="Calibri"/>
                <a:ea typeface="Calibri"/>
                <a:cs typeface="Calibri"/>
                <a:sym typeface="Calibri"/>
              </a:endParaRPr>
            </a:p>
          </p:txBody>
        </p:sp>
      </p:grpSp>
      <p:grpSp>
        <p:nvGrpSpPr>
          <p:cNvPr id="100" name="Google Shape;100;p5"/>
          <p:cNvGrpSpPr/>
          <p:nvPr/>
        </p:nvGrpSpPr>
        <p:grpSpPr>
          <a:xfrm>
            <a:off x="7772649" y="1668611"/>
            <a:ext cx="3359590" cy="1927860"/>
            <a:chOff x="7229193" y="1156797"/>
            <a:chExt cx="2829208" cy="1752600"/>
          </a:xfrm>
        </p:grpSpPr>
        <p:sp>
          <p:nvSpPr>
            <p:cNvPr id="101" name="Google Shape;101;p5"/>
            <p:cNvSpPr/>
            <p:nvPr/>
          </p:nvSpPr>
          <p:spPr>
            <a:xfrm>
              <a:off x="7229193" y="1156797"/>
              <a:ext cx="2829208" cy="1752600"/>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5"/>
            <p:cNvSpPr txBox="1"/>
            <p:nvPr/>
          </p:nvSpPr>
          <p:spPr>
            <a:xfrm>
              <a:off x="7381592" y="1309197"/>
              <a:ext cx="253139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Location-Based Services</a:t>
              </a:r>
              <a:endParaRPr/>
            </a:p>
          </p:txBody>
        </p:sp>
        <p:sp>
          <p:nvSpPr>
            <p:cNvPr id="103" name="Google Shape;103;p5"/>
            <p:cNvSpPr txBox="1"/>
            <p:nvPr/>
          </p:nvSpPr>
          <p:spPr>
            <a:xfrm>
              <a:off x="7315200" y="1629556"/>
              <a:ext cx="2531397"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Geotagging automatically captures the exact location of each issue on a map, enabling officials to quickly pinpoint and address problems.</a:t>
              </a:r>
              <a:endParaRPr sz="1400">
                <a:solidFill>
                  <a:schemeClr val="dk1"/>
                </a:solidFill>
                <a:latin typeface="Calibri"/>
                <a:ea typeface="Calibri"/>
                <a:cs typeface="Calibri"/>
                <a:sym typeface="Calibri"/>
              </a:endParaRPr>
            </a:p>
          </p:txBody>
        </p:sp>
      </p:grpSp>
      <p:pic>
        <p:nvPicPr>
          <p:cNvPr id="104" name="Google Shape;104;p5"/>
          <p:cNvPicPr preferRelativeResize="0"/>
          <p:nvPr/>
        </p:nvPicPr>
        <p:blipFill rotWithShape="1">
          <a:blip r:embed="rId4">
            <a:alphaModFix/>
          </a:blip>
          <a:srcRect b="0" l="0" r="0" t="0"/>
          <a:stretch/>
        </p:blipFill>
        <p:spPr>
          <a:xfrm>
            <a:off x="2599002" y="1250427"/>
            <a:ext cx="959321" cy="959321"/>
          </a:xfrm>
          <a:prstGeom prst="rect">
            <a:avLst/>
          </a:prstGeom>
          <a:noFill/>
          <a:ln>
            <a:noFill/>
          </a:ln>
        </p:spPr>
      </p:pic>
      <p:pic>
        <p:nvPicPr>
          <p:cNvPr id="105" name="Google Shape;105;p5"/>
          <p:cNvPicPr preferRelativeResize="0"/>
          <p:nvPr/>
        </p:nvPicPr>
        <p:blipFill rotWithShape="1">
          <a:blip r:embed="rId5">
            <a:alphaModFix/>
          </a:blip>
          <a:srcRect b="0" l="0" r="0" t="0"/>
          <a:stretch/>
        </p:blipFill>
        <p:spPr>
          <a:xfrm>
            <a:off x="6451850" y="1209127"/>
            <a:ext cx="1047750" cy="1047750"/>
          </a:xfrm>
          <a:prstGeom prst="rect">
            <a:avLst/>
          </a:prstGeom>
          <a:noFill/>
          <a:ln>
            <a:noFill/>
          </a:ln>
        </p:spPr>
      </p:pic>
      <p:pic>
        <p:nvPicPr>
          <p:cNvPr id="106" name="Google Shape;106;p5"/>
          <p:cNvPicPr preferRelativeResize="0"/>
          <p:nvPr/>
        </p:nvPicPr>
        <p:blipFill rotWithShape="1">
          <a:blip r:embed="rId6">
            <a:alphaModFix/>
          </a:blip>
          <a:srcRect b="0" l="0" r="0" t="0"/>
          <a:stretch/>
        </p:blipFill>
        <p:spPr>
          <a:xfrm>
            <a:off x="10608364" y="1532706"/>
            <a:ext cx="1047750" cy="1047750"/>
          </a:xfrm>
          <a:prstGeom prst="rect">
            <a:avLst/>
          </a:prstGeom>
          <a:noFill/>
          <a:ln>
            <a:noFill/>
          </a:ln>
        </p:spPr>
      </p:pic>
      <p:pic>
        <p:nvPicPr>
          <p:cNvPr id="107" name="Google Shape;107;p5"/>
          <p:cNvPicPr preferRelativeResize="0"/>
          <p:nvPr/>
        </p:nvPicPr>
        <p:blipFill rotWithShape="1">
          <a:blip r:embed="rId7">
            <a:alphaModFix/>
          </a:blip>
          <a:srcRect b="0" l="0" r="0" t="0"/>
          <a:stretch/>
        </p:blipFill>
        <p:spPr>
          <a:xfrm>
            <a:off x="10632597" y="3834484"/>
            <a:ext cx="1047750" cy="1047750"/>
          </a:xfrm>
          <a:prstGeom prst="rect">
            <a:avLst/>
          </a:prstGeom>
          <a:noFill/>
          <a:ln>
            <a:noFill/>
          </a:ln>
        </p:spPr>
      </p:pic>
      <p:pic>
        <p:nvPicPr>
          <p:cNvPr id="108" name="Google Shape;108;p5"/>
          <p:cNvPicPr preferRelativeResize="0"/>
          <p:nvPr/>
        </p:nvPicPr>
        <p:blipFill rotWithShape="1">
          <a:blip r:embed="rId8">
            <a:alphaModFix/>
          </a:blip>
          <a:srcRect b="0" l="0" r="0" t="0"/>
          <a:stretch/>
        </p:blipFill>
        <p:spPr>
          <a:xfrm>
            <a:off x="6585446" y="3800855"/>
            <a:ext cx="933461" cy="933461"/>
          </a:xfrm>
          <a:prstGeom prst="rect">
            <a:avLst/>
          </a:prstGeom>
          <a:noFill/>
          <a:ln>
            <a:noFill/>
          </a:ln>
        </p:spPr>
      </p:pic>
      <p:pic>
        <p:nvPicPr>
          <p:cNvPr id="109" name="Google Shape;109;p5"/>
          <p:cNvPicPr preferRelativeResize="0"/>
          <p:nvPr/>
        </p:nvPicPr>
        <p:blipFill rotWithShape="1">
          <a:blip r:embed="rId9">
            <a:alphaModFix/>
          </a:blip>
          <a:srcRect b="0" l="0" r="0" t="0"/>
          <a:stretch/>
        </p:blipFill>
        <p:spPr>
          <a:xfrm>
            <a:off x="2640322" y="3561942"/>
            <a:ext cx="1047750" cy="1047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b="0" l="0" r="0" t="0"/>
          <a:stretch/>
        </p:blipFill>
        <p:spPr>
          <a:xfrm>
            <a:off x="10749280" y="131426"/>
            <a:ext cx="979189" cy="970890"/>
          </a:xfrm>
          <a:prstGeom prst="rect">
            <a:avLst/>
          </a:prstGeom>
          <a:noFill/>
          <a:ln>
            <a:noFill/>
          </a:ln>
        </p:spPr>
      </p:pic>
      <p:sp>
        <p:nvSpPr>
          <p:cNvPr id="115" name="Google Shape;115;p6"/>
          <p:cNvSpPr txBox="1"/>
          <p:nvPr>
            <p:ph type="title"/>
          </p:nvPr>
        </p:nvSpPr>
        <p:spPr>
          <a:xfrm>
            <a:off x="-76200" y="192458"/>
            <a:ext cx="5856083" cy="567463"/>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600"/>
              <a:buFont typeface="Calibri"/>
              <a:buNone/>
            </a:pPr>
            <a:r>
              <a:rPr lang="en-US" sz="3600"/>
              <a:t>Feasibility Study</a:t>
            </a:r>
            <a:endParaRPr sz="3600"/>
          </a:p>
        </p:txBody>
      </p:sp>
      <p:sp>
        <p:nvSpPr>
          <p:cNvPr id="116" name="Google Shape;116;p6"/>
          <p:cNvSpPr/>
          <p:nvPr/>
        </p:nvSpPr>
        <p:spPr>
          <a:xfrm>
            <a:off x="304800" y="1066800"/>
            <a:ext cx="5715000" cy="5257800"/>
          </a:xfrm>
          <a:prstGeom prst="roundRect">
            <a:avLst>
              <a:gd fmla="val 16667" name="adj"/>
            </a:avLst>
          </a:prstGeom>
          <a:solidFill>
            <a:srgbClr val="CBD3DD"/>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6"/>
          <p:cNvSpPr/>
          <p:nvPr/>
        </p:nvSpPr>
        <p:spPr>
          <a:xfrm>
            <a:off x="6324600" y="152400"/>
            <a:ext cx="5715000" cy="2971800"/>
          </a:xfrm>
          <a:prstGeom prst="roundRect">
            <a:avLst>
              <a:gd fmla="val 16667" name="adj"/>
            </a:avLst>
          </a:prstGeom>
          <a:solidFill>
            <a:srgbClr val="D8E2F3"/>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6"/>
          <p:cNvSpPr/>
          <p:nvPr/>
        </p:nvSpPr>
        <p:spPr>
          <a:xfrm>
            <a:off x="6477000" y="3352800"/>
            <a:ext cx="5539966" cy="3124201"/>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6"/>
          <p:cNvSpPr txBox="1"/>
          <p:nvPr/>
        </p:nvSpPr>
        <p:spPr>
          <a:xfrm>
            <a:off x="7151483" y="214268"/>
            <a:ext cx="4191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Calibri"/>
                <a:ea typeface="Calibri"/>
                <a:cs typeface="Calibri"/>
                <a:sym typeface="Calibri"/>
              </a:rPr>
              <a:t>OPERATIONAL FEASIBILITY</a:t>
            </a:r>
            <a:endParaRPr b="1" sz="1800">
              <a:solidFill>
                <a:schemeClr val="dk1"/>
              </a:solidFill>
              <a:latin typeface="Calibri"/>
              <a:ea typeface="Calibri"/>
              <a:cs typeface="Calibri"/>
              <a:sym typeface="Calibri"/>
            </a:endParaRPr>
          </a:p>
        </p:txBody>
      </p:sp>
      <p:sp>
        <p:nvSpPr>
          <p:cNvPr id="120" name="Google Shape;120;p6"/>
          <p:cNvSpPr txBox="1"/>
          <p:nvPr/>
        </p:nvSpPr>
        <p:spPr>
          <a:xfrm>
            <a:off x="7086600" y="3429000"/>
            <a:ext cx="4191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Calibri"/>
                <a:ea typeface="Calibri"/>
                <a:cs typeface="Calibri"/>
                <a:sym typeface="Calibri"/>
              </a:rPr>
              <a:t>ECONOMIC FEASIBILITY</a:t>
            </a:r>
            <a:endParaRPr b="1" sz="1800">
              <a:solidFill>
                <a:schemeClr val="dk1"/>
              </a:solidFill>
              <a:latin typeface="Calibri"/>
              <a:ea typeface="Calibri"/>
              <a:cs typeface="Calibri"/>
              <a:sym typeface="Calibri"/>
            </a:endParaRPr>
          </a:p>
        </p:txBody>
      </p:sp>
      <p:sp>
        <p:nvSpPr>
          <p:cNvPr id="121" name="Google Shape;121;p6"/>
          <p:cNvSpPr txBox="1"/>
          <p:nvPr/>
        </p:nvSpPr>
        <p:spPr>
          <a:xfrm>
            <a:off x="422495" y="1981200"/>
            <a:ext cx="5638800" cy="304698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Frontend: </a:t>
            </a:r>
            <a:r>
              <a:rPr lang="en-US" sz="1600">
                <a:solidFill>
                  <a:schemeClr val="dk1"/>
                </a:solidFill>
                <a:latin typeface="Calibri"/>
                <a:ea typeface="Calibri"/>
                <a:cs typeface="Calibri"/>
                <a:sym typeface="Calibri"/>
              </a:rPr>
              <a:t>Flutter for cross-platform mobile app (Android + iOS).</a:t>
            </a:r>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Backend</a:t>
            </a:r>
            <a:r>
              <a:rPr lang="en-US" sz="1600">
                <a:solidFill>
                  <a:schemeClr val="dk1"/>
                </a:solidFill>
                <a:latin typeface="Calibri"/>
                <a:ea typeface="Calibri"/>
                <a:cs typeface="Calibri"/>
                <a:sym typeface="Calibri"/>
              </a:rPr>
              <a:t>: Spring Boot for scalable REST APIs.</a:t>
            </a:r>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Databases</a:t>
            </a:r>
            <a:r>
              <a:rPr lang="en-US" sz="1600">
                <a:solidFill>
                  <a:schemeClr val="dk1"/>
                </a:solidFill>
                <a:latin typeface="Calibri"/>
                <a:ea typeface="Calibri"/>
                <a:cs typeface="Calibri"/>
                <a:sym typeface="Calibri"/>
              </a:rPr>
              <a:t>: PostgreSQL (structured data) + MongoDB (unstructured data like images &amp; metadata).</a:t>
            </a:r>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AI/ML Integration</a:t>
            </a:r>
            <a:r>
              <a:rPr lang="en-US" sz="1600">
                <a:solidFill>
                  <a:schemeClr val="dk1"/>
                </a:solidFill>
                <a:latin typeface="Calibri"/>
                <a:ea typeface="Calibri"/>
                <a:cs typeface="Calibri"/>
                <a:sym typeface="Calibri"/>
              </a:rPr>
              <a:t>: Pre-trained models + Smart Custom Agentic AI Workflow for automatic issue categorization &amp; duplicate detection.</a:t>
            </a:r>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Features</a:t>
            </a:r>
            <a:r>
              <a:rPr lang="en-US" sz="1600">
                <a:solidFill>
                  <a:schemeClr val="dk1"/>
                </a:solidFill>
                <a:latin typeface="Calibri"/>
                <a:ea typeface="Calibri"/>
                <a:cs typeface="Calibri"/>
                <a:sym typeface="Calibri"/>
              </a:rPr>
              <a:t>: Location-based tagging (POSTGIS), media uploads (AWS S3), notifications, dashboards.</a:t>
            </a:r>
            <a:endParaRPr/>
          </a:p>
          <a:p>
            <a:pPr indent="-285750" lvl="0" marL="285750" marR="0" rtl="0" algn="l">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Hosting &amp; Infrastructure</a:t>
            </a:r>
            <a:r>
              <a:rPr lang="en-US" sz="1600">
                <a:solidFill>
                  <a:schemeClr val="dk1"/>
                </a:solidFill>
                <a:latin typeface="Calibri"/>
                <a:ea typeface="Calibri"/>
                <a:cs typeface="Calibri"/>
                <a:sym typeface="Calibri"/>
              </a:rPr>
              <a:t>: Cloud-based deployment (scalable microservices).</a:t>
            </a:r>
            <a:endParaRPr/>
          </a:p>
        </p:txBody>
      </p:sp>
      <p:pic>
        <p:nvPicPr>
          <p:cNvPr id="122" name="Google Shape;122;p6"/>
          <p:cNvPicPr preferRelativeResize="0"/>
          <p:nvPr/>
        </p:nvPicPr>
        <p:blipFill rotWithShape="1">
          <a:blip r:embed="rId4">
            <a:alphaModFix/>
          </a:blip>
          <a:srcRect b="0" l="0" r="0" t="0"/>
          <a:stretch/>
        </p:blipFill>
        <p:spPr>
          <a:xfrm>
            <a:off x="727103" y="1278369"/>
            <a:ext cx="607521" cy="607521"/>
          </a:xfrm>
          <a:prstGeom prst="rect">
            <a:avLst/>
          </a:prstGeom>
          <a:noFill/>
          <a:ln>
            <a:noFill/>
          </a:ln>
        </p:spPr>
      </p:pic>
      <p:pic>
        <p:nvPicPr>
          <p:cNvPr descr="Postgresql plain wordmark logo - Social media &amp; Logos Icons" id="123" name="Google Shape;123;p6"/>
          <p:cNvPicPr preferRelativeResize="0"/>
          <p:nvPr/>
        </p:nvPicPr>
        <p:blipFill rotWithShape="1">
          <a:blip r:embed="rId5">
            <a:alphaModFix/>
          </a:blip>
          <a:srcRect b="0" l="0" r="0" t="0"/>
          <a:stretch/>
        </p:blipFill>
        <p:spPr>
          <a:xfrm>
            <a:off x="550753" y="5040181"/>
            <a:ext cx="990600" cy="990600"/>
          </a:xfrm>
          <a:prstGeom prst="rect">
            <a:avLst/>
          </a:prstGeom>
          <a:noFill/>
          <a:ln>
            <a:noFill/>
          </a:ln>
        </p:spPr>
      </p:pic>
      <p:pic>
        <p:nvPicPr>
          <p:cNvPr id="124" name="Google Shape;124;p6"/>
          <p:cNvPicPr preferRelativeResize="0"/>
          <p:nvPr/>
        </p:nvPicPr>
        <p:blipFill rotWithShape="1">
          <a:blip r:embed="rId6">
            <a:alphaModFix/>
          </a:blip>
          <a:srcRect b="0" l="0" r="0" t="0"/>
          <a:stretch/>
        </p:blipFill>
        <p:spPr>
          <a:xfrm>
            <a:off x="4859948" y="5131719"/>
            <a:ext cx="809535" cy="809535"/>
          </a:xfrm>
          <a:prstGeom prst="rect">
            <a:avLst/>
          </a:prstGeom>
          <a:noFill/>
          <a:ln>
            <a:noFill/>
          </a:ln>
        </p:spPr>
      </p:pic>
      <p:pic>
        <p:nvPicPr>
          <p:cNvPr descr="Mongodb original wordmark logo - Social media &amp; Logos Icons" id="125" name="Google Shape;125;p6"/>
          <p:cNvPicPr preferRelativeResize="0"/>
          <p:nvPr/>
        </p:nvPicPr>
        <p:blipFill rotWithShape="1">
          <a:blip r:embed="rId7">
            <a:alphaModFix/>
          </a:blip>
          <a:srcRect b="0" l="0" r="0" t="0"/>
          <a:stretch/>
        </p:blipFill>
        <p:spPr>
          <a:xfrm>
            <a:off x="3677491" y="5031103"/>
            <a:ext cx="983909" cy="983909"/>
          </a:xfrm>
          <a:prstGeom prst="rect">
            <a:avLst/>
          </a:prstGeom>
          <a:noFill/>
          <a:ln>
            <a:noFill/>
          </a:ln>
        </p:spPr>
      </p:pic>
      <p:pic>
        <p:nvPicPr>
          <p:cNvPr descr="Brand assets - Hugging Face" id="126" name="Google Shape;126;p6"/>
          <p:cNvPicPr preferRelativeResize="0"/>
          <p:nvPr/>
        </p:nvPicPr>
        <p:blipFill rotWithShape="1">
          <a:blip r:embed="rId8">
            <a:alphaModFix/>
          </a:blip>
          <a:srcRect b="0" l="0" r="0" t="0"/>
          <a:stretch/>
        </p:blipFill>
        <p:spPr>
          <a:xfrm>
            <a:off x="2467846" y="4935793"/>
            <a:ext cx="1209645" cy="1209645"/>
          </a:xfrm>
          <a:prstGeom prst="rect">
            <a:avLst/>
          </a:prstGeom>
          <a:noFill/>
          <a:ln>
            <a:noFill/>
          </a:ln>
        </p:spPr>
      </p:pic>
      <p:pic>
        <p:nvPicPr>
          <p:cNvPr descr="Spring Boot Logo and Icon Resources for Developers" id="127" name="Google Shape;127;p6"/>
          <p:cNvPicPr preferRelativeResize="0"/>
          <p:nvPr/>
        </p:nvPicPr>
        <p:blipFill rotWithShape="1">
          <a:blip r:embed="rId9">
            <a:alphaModFix/>
          </a:blip>
          <a:srcRect b="0" l="0" r="0" t="0"/>
          <a:stretch/>
        </p:blipFill>
        <p:spPr>
          <a:xfrm>
            <a:off x="1580634" y="5113593"/>
            <a:ext cx="914400" cy="914400"/>
          </a:xfrm>
          <a:prstGeom prst="rect">
            <a:avLst/>
          </a:prstGeom>
          <a:noFill/>
          <a:ln>
            <a:noFill/>
          </a:ln>
        </p:spPr>
      </p:pic>
      <p:sp>
        <p:nvSpPr>
          <p:cNvPr id="128" name="Google Shape;128;p6"/>
          <p:cNvSpPr txBox="1"/>
          <p:nvPr/>
        </p:nvSpPr>
        <p:spPr>
          <a:xfrm>
            <a:off x="6495861" y="614378"/>
            <a:ext cx="5181600" cy="246221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User-Friendly UI</a:t>
            </a:r>
            <a:r>
              <a:rPr lang="en-US" sz="1400">
                <a:solidFill>
                  <a:schemeClr val="dk1"/>
                </a:solidFill>
                <a:latin typeface="Calibri"/>
                <a:ea typeface="Calibri"/>
                <a:cs typeface="Calibri"/>
                <a:sym typeface="Calibri"/>
              </a:rPr>
              <a:t>: Simple app design for citizens with minimal learning curve.</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Government Portals</a:t>
            </a:r>
            <a:r>
              <a:rPr lang="en-US" sz="1400">
                <a:solidFill>
                  <a:schemeClr val="dk1"/>
                </a:solidFill>
                <a:latin typeface="Calibri"/>
                <a:ea typeface="Calibri"/>
                <a:cs typeface="Calibri"/>
                <a:sym typeface="Calibri"/>
              </a:rPr>
              <a:t>: Role-based dashboards for officials to manage and prioritize issues.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Transparency</a:t>
            </a:r>
            <a:r>
              <a:rPr lang="en-US" sz="1400">
                <a:solidFill>
                  <a:schemeClr val="dk1"/>
                </a:solidFill>
                <a:latin typeface="Calibri"/>
                <a:ea typeface="Calibri"/>
                <a:cs typeface="Calibri"/>
                <a:sym typeface="Calibri"/>
              </a:rPr>
              <a:t>: Citizens can track complaint status in real time.</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Notifications &amp; Alerts</a:t>
            </a:r>
            <a:r>
              <a:rPr lang="en-US" sz="1400">
                <a:solidFill>
                  <a:schemeClr val="dk1"/>
                </a:solidFill>
                <a:latin typeface="Calibri"/>
                <a:ea typeface="Calibri"/>
                <a:cs typeface="Calibri"/>
                <a:sym typeface="Calibri"/>
              </a:rPr>
              <a:t>: Push notifications for updates, reminders, and status changes.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Community Engagement</a:t>
            </a:r>
            <a:r>
              <a:rPr lang="en-US" sz="1400">
                <a:solidFill>
                  <a:schemeClr val="dk1"/>
                </a:solidFill>
                <a:latin typeface="Calibri"/>
                <a:ea typeface="Calibri"/>
                <a:cs typeface="Calibri"/>
                <a:sym typeface="Calibri"/>
              </a:rPr>
              <a:t>: Social media-like interactions (likes, comments, upvotes).Cross-Department Integration: Single centralized platform → reduces fragmentation.</a:t>
            </a:r>
            <a:endParaRPr/>
          </a:p>
        </p:txBody>
      </p:sp>
      <p:sp>
        <p:nvSpPr>
          <p:cNvPr id="129" name="Google Shape;129;p6"/>
          <p:cNvSpPr txBox="1"/>
          <p:nvPr/>
        </p:nvSpPr>
        <p:spPr>
          <a:xfrm>
            <a:off x="6656183" y="3862387"/>
            <a:ext cx="5181600" cy="246221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Open-Source Stack</a:t>
            </a:r>
            <a:r>
              <a:rPr lang="en-US" sz="1400">
                <a:solidFill>
                  <a:schemeClr val="dk1"/>
                </a:solidFill>
                <a:latin typeface="Calibri"/>
                <a:ea typeface="Calibri"/>
                <a:cs typeface="Calibri"/>
                <a:sym typeface="Calibri"/>
              </a:rPr>
              <a:t>: Flutter, Spring Boot, PostgreSQL, etc.</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Cloud Services</a:t>
            </a:r>
            <a:r>
              <a:rPr lang="en-US" sz="1400">
                <a:solidFill>
                  <a:schemeClr val="dk1"/>
                </a:solidFill>
                <a:latin typeface="Calibri"/>
                <a:ea typeface="Calibri"/>
                <a:cs typeface="Calibri"/>
                <a:sym typeface="Calibri"/>
              </a:rPr>
              <a:t>: Pay-as-you-go model → reduces upfront infra costs.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Student-led Development</a:t>
            </a:r>
            <a:r>
              <a:rPr lang="en-US" sz="1400">
                <a:solidFill>
                  <a:schemeClr val="dk1"/>
                </a:solidFill>
                <a:latin typeface="Calibri"/>
                <a:ea typeface="Calibri"/>
                <a:cs typeface="Calibri"/>
                <a:sym typeface="Calibri"/>
              </a:rPr>
              <a:t>: Minimizes initial manpower costs.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Low Maintenance Costs</a:t>
            </a:r>
            <a:r>
              <a:rPr lang="en-US" sz="1400">
                <a:solidFill>
                  <a:schemeClr val="dk1"/>
                </a:solidFill>
                <a:latin typeface="Calibri"/>
                <a:ea typeface="Calibri"/>
                <a:cs typeface="Calibri"/>
                <a:sym typeface="Calibri"/>
              </a:rPr>
              <a:t>: Scalable design ensures reduced long-term overhead.</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Efficiency Gains</a:t>
            </a:r>
            <a:r>
              <a:rPr lang="en-US" sz="1400">
                <a:solidFill>
                  <a:schemeClr val="dk1"/>
                </a:solidFill>
                <a:latin typeface="Calibri"/>
                <a:ea typeface="Calibri"/>
                <a:cs typeface="Calibri"/>
                <a:sym typeface="Calibri"/>
              </a:rPr>
              <a:t>: Cuts down manual paperwork &amp; admin overhead for government.</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Calibri"/>
                <a:ea typeface="Calibri"/>
                <a:cs typeface="Calibri"/>
                <a:sym typeface="Calibri"/>
              </a:rPr>
              <a:t>Long-Term ROI</a:t>
            </a:r>
            <a:r>
              <a:rPr lang="en-US" sz="1400">
                <a:solidFill>
                  <a:schemeClr val="dk1"/>
                </a:solidFill>
                <a:latin typeface="Calibri"/>
                <a:ea typeface="Calibri"/>
                <a:cs typeface="Calibri"/>
                <a:sym typeface="Calibri"/>
              </a:rPr>
              <a:t>: Data-driven governance → better resource allocation, improved trust, reduced duplication of work.</a:t>
            </a:r>
            <a:endParaRPr/>
          </a:p>
        </p:txBody>
      </p:sp>
      <p:sp>
        <p:nvSpPr>
          <p:cNvPr id="130" name="Google Shape;130;p6"/>
          <p:cNvSpPr txBox="1"/>
          <p:nvPr/>
        </p:nvSpPr>
        <p:spPr>
          <a:xfrm>
            <a:off x="977168" y="1374625"/>
            <a:ext cx="4191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Calibri"/>
                <a:ea typeface="Calibri"/>
                <a:cs typeface="Calibri"/>
                <a:sym typeface="Calibri"/>
              </a:rPr>
              <a:t>TECHNICAL FEASIBILITY</a:t>
            </a:r>
            <a:endParaRPr b="1" sz="1800">
              <a:solidFill>
                <a:schemeClr val="dk1"/>
              </a:solidFill>
              <a:latin typeface="Calibri"/>
              <a:ea typeface="Calibri"/>
              <a:cs typeface="Calibri"/>
              <a:sym typeface="Calibri"/>
            </a:endParaRPr>
          </a:p>
        </p:txBody>
      </p:sp>
      <p:pic>
        <p:nvPicPr>
          <p:cNvPr descr="Next js logo Icon" id="131" name="Google Shape;131;p6"/>
          <p:cNvPicPr preferRelativeResize="0"/>
          <p:nvPr/>
        </p:nvPicPr>
        <p:blipFill rotWithShape="1">
          <a:blip r:embed="rId10">
            <a:alphaModFix/>
          </a:blip>
          <a:srcRect b="0" l="0" r="0" t="0"/>
          <a:stretch/>
        </p:blipFill>
        <p:spPr>
          <a:xfrm>
            <a:off x="4661400" y="1278369"/>
            <a:ext cx="681783" cy="6817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pic>
        <p:nvPicPr>
          <p:cNvPr id="136" name="Google Shape;136;p7"/>
          <p:cNvPicPr preferRelativeResize="0"/>
          <p:nvPr/>
        </p:nvPicPr>
        <p:blipFill rotWithShape="1">
          <a:blip r:embed="rId3">
            <a:alphaModFix/>
          </a:blip>
          <a:srcRect b="0" l="0" r="0" t="0"/>
          <a:stretch/>
        </p:blipFill>
        <p:spPr>
          <a:xfrm>
            <a:off x="10390002" y="27471"/>
            <a:ext cx="1130188" cy="1120609"/>
          </a:xfrm>
          <a:prstGeom prst="rect">
            <a:avLst/>
          </a:prstGeom>
          <a:noFill/>
          <a:ln>
            <a:noFill/>
          </a:ln>
        </p:spPr>
      </p:pic>
      <p:sp>
        <p:nvSpPr>
          <p:cNvPr id="137" name="Google Shape;137;p7"/>
          <p:cNvSpPr txBox="1"/>
          <p:nvPr>
            <p:ph type="title"/>
          </p:nvPr>
        </p:nvSpPr>
        <p:spPr>
          <a:xfrm>
            <a:off x="-228600" y="304800"/>
            <a:ext cx="10515600" cy="598241"/>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800"/>
              <a:buFont typeface="Calibri"/>
              <a:buNone/>
            </a:pPr>
            <a:r>
              <a:rPr lang="en-US" sz="3800"/>
              <a:t>Existing Solutions/Literature Review</a:t>
            </a:r>
            <a:endParaRPr sz="3800"/>
          </a:p>
        </p:txBody>
      </p:sp>
      <p:sp>
        <p:nvSpPr>
          <p:cNvPr id="138" name="Google Shape;138;p7"/>
          <p:cNvSpPr/>
          <p:nvPr/>
        </p:nvSpPr>
        <p:spPr>
          <a:xfrm>
            <a:off x="310835" y="1219200"/>
            <a:ext cx="5482627" cy="1720914"/>
          </a:xfrm>
          <a:prstGeom prst="roundRect">
            <a:avLst>
              <a:gd fmla="val 16667" name="adj"/>
            </a:avLst>
          </a:prstGeom>
          <a:solidFill>
            <a:srgbClr val="D8D8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National Government Platforms</a:t>
            </a:r>
            <a:r>
              <a:rPr lang="en-US" sz="1800">
                <a:solidFill>
                  <a:schemeClr val="dk1"/>
                </a:solidFill>
                <a:latin typeface="Times New Roman"/>
                <a:ea typeface="Times New Roman"/>
                <a:cs typeface="Times New Roman"/>
                <a:sym typeface="Times New Roman"/>
              </a:rPr>
              <a:t>: Platforms like </a:t>
            </a:r>
            <a:r>
              <a:rPr b="1" lang="en-US" sz="1800">
                <a:solidFill>
                  <a:schemeClr val="dk1"/>
                </a:solidFill>
                <a:latin typeface="Times New Roman"/>
                <a:ea typeface="Times New Roman"/>
                <a:cs typeface="Times New Roman"/>
                <a:sym typeface="Times New Roman"/>
              </a:rPr>
              <a:t>Swachhata-MoHUA</a:t>
            </a:r>
            <a:r>
              <a:rPr lang="en-US" sz="1800">
                <a:solidFill>
                  <a:schemeClr val="dk1"/>
                </a:solidFill>
                <a:latin typeface="Times New Roman"/>
                <a:ea typeface="Times New Roman"/>
                <a:cs typeface="Times New Roman"/>
                <a:sym typeface="Times New Roman"/>
              </a:rPr>
              <a:t> focus on specific issues like sanitation , while others like </a:t>
            </a:r>
            <a:r>
              <a:rPr b="1" lang="en-US" sz="1800">
                <a:solidFill>
                  <a:schemeClr val="dk1"/>
                </a:solidFill>
                <a:latin typeface="Times New Roman"/>
                <a:ea typeface="Times New Roman"/>
                <a:cs typeface="Times New Roman"/>
                <a:sym typeface="Times New Roman"/>
              </a:rPr>
              <a:t>UMANG</a:t>
            </a:r>
            <a:r>
              <a:rPr lang="en-US" sz="1800">
                <a:solidFill>
                  <a:schemeClr val="dk1"/>
                </a:solidFill>
                <a:latin typeface="Times New Roman"/>
                <a:ea typeface="Times New Roman"/>
                <a:cs typeface="Times New Roman"/>
                <a:sym typeface="Times New Roman"/>
              </a:rPr>
              <a:t> act as umbrella portals for multiple government services but aren't tailored for local civic complaints.</a:t>
            </a:r>
            <a:endParaRPr sz="1800">
              <a:solidFill>
                <a:schemeClr val="dk1"/>
              </a:solidFill>
              <a:latin typeface="Calibri"/>
              <a:ea typeface="Calibri"/>
              <a:cs typeface="Calibri"/>
              <a:sym typeface="Calibri"/>
            </a:endParaRPr>
          </a:p>
        </p:txBody>
      </p:sp>
      <p:sp>
        <p:nvSpPr>
          <p:cNvPr id="139" name="Google Shape;139;p7"/>
          <p:cNvSpPr/>
          <p:nvPr/>
        </p:nvSpPr>
        <p:spPr>
          <a:xfrm>
            <a:off x="6352518" y="1920843"/>
            <a:ext cx="5482627" cy="3016314"/>
          </a:xfrm>
          <a:prstGeom prst="roundRect">
            <a:avLst>
              <a:gd fmla="val 16667" name="adj"/>
            </a:avLst>
          </a:prstGeom>
          <a:solidFill>
            <a:srgbClr val="D8D8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State and City-Level Apps</a:t>
            </a:r>
            <a:r>
              <a:rPr lang="en-US" sz="1800">
                <a:solidFill>
                  <a:schemeClr val="dk1"/>
                </a:solidFill>
                <a:latin typeface="Times New Roman"/>
                <a:ea typeface="Times New Roman"/>
                <a:cs typeface="Times New Roman"/>
                <a:sym typeface="Times New Roman"/>
              </a:rPr>
              <a:t>: Applications such as </a:t>
            </a:r>
            <a:r>
              <a:rPr b="1" lang="en-US" sz="1800">
                <a:solidFill>
                  <a:schemeClr val="dk1"/>
                </a:solidFill>
                <a:latin typeface="Times New Roman"/>
                <a:ea typeface="Times New Roman"/>
                <a:cs typeface="Times New Roman"/>
                <a:sym typeface="Times New Roman"/>
              </a:rPr>
              <a:t>PuraSeva</a:t>
            </a:r>
            <a:r>
              <a:rPr lang="en-US" sz="1800">
                <a:solidFill>
                  <a:schemeClr val="dk1"/>
                </a:solidFill>
                <a:latin typeface="Times New Roman"/>
                <a:ea typeface="Times New Roman"/>
                <a:cs typeface="Times New Roman"/>
                <a:sym typeface="Times New Roman"/>
              </a:rPr>
              <a:t> (Andhra Pradesh) and </a:t>
            </a:r>
            <a:r>
              <a:rPr b="1" lang="en-US" sz="1800">
                <a:solidFill>
                  <a:schemeClr val="dk1"/>
                </a:solidFill>
                <a:latin typeface="Times New Roman"/>
                <a:ea typeface="Times New Roman"/>
                <a:cs typeface="Times New Roman"/>
                <a:sym typeface="Times New Roman"/>
              </a:rPr>
              <a:t>MCD311</a:t>
            </a:r>
            <a:r>
              <a:rPr lang="en-US" sz="1800">
                <a:solidFill>
                  <a:schemeClr val="dk1"/>
                </a:solidFill>
                <a:latin typeface="Times New Roman"/>
                <a:ea typeface="Times New Roman"/>
                <a:cs typeface="Times New Roman"/>
                <a:sym typeface="Times New Roman"/>
              </a:rPr>
              <a:t> (Delhi) offer comprehensive but geographically limited grievance systems. Others are even more niche, targeting single utilities like water supply (</a:t>
            </a:r>
            <a:r>
              <a:rPr b="1" lang="en-US" sz="1800">
                <a:solidFill>
                  <a:schemeClr val="dk1"/>
                </a:solidFill>
                <a:latin typeface="Times New Roman"/>
                <a:ea typeface="Times New Roman"/>
                <a:cs typeface="Times New Roman"/>
                <a:sym typeface="Times New Roman"/>
              </a:rPr>
              <a:t>BWSSB MyComplaint</a:t>
            </a:r>
            <a:r>
              <a:rPr lang="en-US" sz="1800">
                <a:solidFill>
                  <a:schemeClr val="dk1"/>
                </a:solidFill>
                <a:latin typeface="Times New Roman"/>
                <a:ea typeface="Times New Roman"/>
                <a:cs typeface="Times New Roman"/>
                <a:sym typeface="Times New Roman"/>
              </a:rPr>
              <a:t>) or specific problems like streetlights (</a:t>
            </a:r>
            <a:r>
              <a:rPr b="1" lang="en-US" sz="1800">
                <a:solidFill>
                  <a:schemeClr val="dk1"/>
                </a:solidFill>
                <a:latin typeface="Times New Roman"/>
                <a:ea typeface="Times New Roman"/>
                <a:cs typeface="Times New Roman"/>
                <a:sym typeface="Times New Roman"/>
              </a:rPr>
              <a:t>GNIDA Street Light App</a:t>
            </a:r>
            <a:r>
              <a:rPr lang="en-US" sz="1800">
                <a:solidFill>
                  <a:schemeClr val="dk1"/>
                </a:solidFill>
                <a:latin typeface="Times New Roman"/>
                <a:ea typeface="Times New Roman"/>
                <a:cs typeface="Times New Roman"/>
                <a:sym typeface="Times New Roman"/>
              </a:rPr>
              <a:t>).</a:t>
            </a:r>
            <a:endParaRPr sz="1600">
              <a:solidFill>
                <a:schemeClr val="dk1"/>
              </a:solidFill>
              <a:latin typeface="Calibri"/>
              <a:ea typeface="Calibri"/>
              <a:cs typeface="Calibri"/>
              <a:sym typeface="Calibri"/>
            </a:endParaRPr>
          </a:p>
        </p:txBody>
      </p:sp>
      <p:sp>
        <p:nvSpPr>
          <p:cNvPr id="140" name="Google Shape;140;p7"/>
          <p:cNvSpPr/>
          <p:nvPr/>
        </p:nvSpPr>
        <p:spPr>
          <a:xfrm>
            <a:off x="356856" y="3810000"/>
            <a:ext cx="5482627" cy="2581370"/>
          </a:xfrm>
          <a:prstGeom prst="roundRect">
            <a:avLst>
              <a:gd fmla="val 16667" name="adj"/>
            </a:avLst>
          </a:prstGeom>
          <a:solidFill>
            <a:srgbClr val="D8D8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Community-Led Platforms</a:t>
            </a:r>
            <a:r>
              <a:rPr lang="en-US" sz="1800">
                <a:solidFill>
                  <a:schemeClr val="dk1"/>
                </a:solidFill>
                <a:latin typeface="Times New Roman"/>
                <a:ea typeface="Times New Roman"/>
                <a:cs typeface="Times New Roman"/>
                <a:sym typeface="Times New Roman"/>
              </a:rPr>
              <a:t>: Citizen-driven initiatives like </a:t>
            </a:r>
            <a:r>
              <a:rPr b="1" lang="en-US" sz="1800">
                <a:solidFill>
                  <a:schemeClr val="dk1"/>
                </a:solidFill>
                <a:latin typeface="Times New Roman"/>
                <a:ea typeface="Times New Roman"/>
                <a:cs typeface="Times New Roman"/>
                <a:sym typeface="Times New Roman"/>
              </a:rPr>
              <a:t>ICRF</a:t>
            </a:r>
            <a:r>
              <a:rPr lang="en-US" sz="1800">
                <a:solidFill>
                  <a:schemeClr val="dk1"/>
                </a:solidFill>
                <a:latin typeface="Times New Roman"/>
                <a:ea typeface="Times New Roman"/>
                <a:cs typeface="Times New Roman"/>
                <a:sym typeface="Times New Roman"/>
              </a:rPr>
              <a:t> and </a:t>
            </a:r>
            <a:r>
              <a:rPr b="1" lang="en-US" sz="1800">
                <a:solidFill>
                  <a:schemeClr val="dk1"/>
                </a:solidFill>
                <a:latin typeface="Times New Roman"/>
                <a:ea typeface="Times New Roman"/>
                <a:cs typeface="Times New Roman"/>
                <a:sym typeface="Times New Roman"/>
              </a:rPr>
              <a:t>NetaG</a:t>
            </a:r>
            <a:r>
              <a:rPr lang="en-US" sz="1800">
                <a:solidFill>
                  <a:schemeClr val="dk1"/>
                </a:solidFill>
                <a:latin typeface="Times New Roman"/>
                <a:ea typeface="Times New Roman"/>
                <a:cs typeface="Times New Roman"/>
                <a:sym typeface="Times New Roman"/>
              </a:rPr>
              <a:t> attempt to connect citizens with officials or politicians. However, they often lack official government integration, and their success depends on political goodwill or media pressure.</a:t>
            </a:r>
            <a:endParaRPr sz="1600">
              <a:solidFill>
                <a:schemeClr val="dk1"/>
              </a:solidFill>
              <a:latin typeface="Calibri"/>
              <a:ea typeface="Calibri"/>
              <a:cs typeface="Calibri"/>
              <a:sym typeface="Calibri"/>
            </a:endParaRPr>
          </a:p>
        </p:txBody>
      </p:sp>
      <p:pic>
        <p:nvPicPr>
          <p:cNvPr id="141" name="Google Shape;141;p7"/>
          <p:cNvPicPr preferRelativeResize="0"/>
          <p:nvPr/>
        </p:nvPicPr>
        <p:blipFill rotWithShape="1">
          <a:blip r:embed="rId4">
            <a:alphaModFix/>
          </a:blip>
          <a:srcRect b="0" l="0" r="0" t="0"/>
          <a:stretch/>
        </p:blipFill>
        <p:spPr>
          <a:xfrm>
            <a:off x="11049000" y="4343400"/>
            <a:ext cx="952500" cy="952500"/>
          </a:xfrm>
          <a:prstGeom prst="rect">
            <a:avLst/>
          </a:prstGeom>
          <a:noFill/>
          <a:ln>
            <a:noFill/>
          </a:ln>
        </p:spPr>
      </p:pic>
      <p:pic>
        <p:nvPicPr>
          <p:cNvPr id="142" name="Google Shape;142;p7"/>
          <p:cNvPicPr preferRelativeResize="0"/>
          <p:nvPr/>
        </p:nvPicPr>
        <p:blipFill rotWithShape="1">
          <a:blip r:embed="rId5">
            <a:alphaModFix/>
          </a:blip>
          <a:srcRect b="0" l="0" r="0" t="0"/>
          <a:stretch/>
        </p:blipFill>
        <p:spPr>
          <a:xfrm>
            <a:off x="5233663" y="2336215"/>
            <a:ext cx="952500" cy="952500"/>
          </a:xfrm>
          <a:prstGeom prst="rect">
            <a:avLst/>
          </a:prstGeom>
          <a:noFill/>
          <a:ln>
            <a:noFill/>
          </a:ln>
        </p:spPr>
      </p:pic>
      <p:pic>
        <p:nvPicPr>
          <p:cNvPr id="143" name="Google Shape;143;p7"/>
          <p:cNvPicPr preferRelativeResize="0"/>
          <p:nvPr/>
        </p:nvPicPr>
        <p:blipFill rotWithShape="1">
          <a:blip r:embed="rId6">
            <a:alphaModFix/>
          </a:blip>
          <a:srcRect b="0" l="0" r="0" t="0"/>
          <a:stretch/>
        </p:blipFill>
        <p:spPr>
          <a:xfrm>
            <a:off x="5363233" y="5638800"/>
            <a:ext cx="952500" cy="952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pic>
        <p:nvPicPr>
          <p:cNvPr id="148" name="Google Shape;148;p8"/>
          <p:cNvPicPr preferRelativeResize="0"/>
          <p:nvPr/>
        </p:nvPicPr>
        <p:blipFill rotWithShape="1">
          <a:blip r:embed="rId3">
            <a:alphaModFix/>
          </a:blip>
          <a:srcRect b="0" l="0" r="0" t="0"/>
          <a:stretch/>
        </p:blipFill>
        <p:spPr>
          <a:xfrm>
            <a:off x="10566400" y="118136"/>
            <a:ext cx="1056640" cy="1047684"/>
          </a:xfrm>
          <a:prstGeom prst="rect">
            <a:avLst/>
          </a:prstGeom>
          <a:noFill/>
          <a:ln>
            <a:noFill/>
          </a:ln>
        </p:spPr>
      </p:pic>
      <p:sp>
        <p:nvSpPr>
          <p:cNvPr id="149" name="Google Shape;149;p8"/>
          <p:cNvSpPr txBox="1"/>
          <p:nvPr>
            <p:ph type="title"/>
          </p:nvPr>
        </p:nvSpPr>
        <p:spPr>
          <a:xfrm>
            <a:off x="-228600" y="561174"/>
            <a:ext cx="10515600" cy="567463"/>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600"/>
              <a:buFont typeface="Calibri"/>
              <a:buNone/>
            </a:pPr>
            <a:r>
              <a:rPr lang="en-US" sz="3600"/>
              <a:t>GAPS in existing solution/literature review</a:t>
            </a:r>
            <a:endParaRPr sz="3600"/>
          </a:p>
        </p:txBody>
      </p:sp>
      <p:sp>
        <p:nvSpPr>
          <p:cNvPr id="150" name="Google Shape;150;p8"/>
          <p:cNvSpPr/>
          <p:nvPr/>
        </p:nvSpPr>
        <p:spPr>
          <a:xfrm>
            <a:off x="310835" y="1672487"/>
            <a:ext cx="5482627" cy="4114801"/>
          </a:xfrm>
          <a:prstGeom prst="roundRect">
            <a:avLst>
              <a:gd fmla="val 16667" name="adj"/>
            </a:avLst>
          </a:prstGeom>
          <a:solidFill>
            <a:srgbClr val="FBE4D4"/>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8"/>
          <p:cNvSpPr txBox="1"/>
          <p:nvPr/>
        </p:nvSpPr>
        <p:spPr>
          <a:xfrm>
            <a:off x="688063" y="1685313"/>
            <a:ext cx="4900887"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1. Absence of Smart Intelligence</a:t>
            </a:r>
            <a:r>
              <a:rPr lang="en-US" sz="1800">
                <a:solidFill>
                  <a:schemeClr val="dk1"/>
                </a:solidFill>
                <a:latin typeface="Calibri"/>
                <a:ea typeface="Calibri"/>
                <a:cs typeface="Calibri"/>
                <a:sym typeface="Calibri"/>
              </a:rPr>
              <a:t>: Current apps do not use AI or smart technology. This results in challenges like spam, duplicate complaints, and an inability for officials to prioritize issues based on severity or public sentiment.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2. Poor Transparency and Trust</a:t>
            </a:r>
            <a:r>
              <a:rPr lang="en-US" sz="1800">
                <a:solidFill>
                  <a:schemeClr val="dk1"/>
                </a:solidFill>
                <a:latin typeface="Calibri"/>
                <a:ea typeface="Calibri"/>
                <a:cs typeface="Calibri"/>
                <a:sym typeface="Calibri"/>
              </a:rPr>
              <a:t>: Citizens are often unaware of their complaint status and distrust the process due to a lack of transparency and poor follow-up enforcement. Mudda's proposed use of verified government accounts directly addresses this trust deficit.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6126933" y="1672487"/>
            <a:ext cx="5377004" cy="4114800"/>
          </a:xfrm>
          <a:prstGeom prst="roundRect">
            <a:avLst>
              <a:gd fmla="val 16667" name="adj"/>
            </a:avLst>
          </a:prstGeom>
          <a:solidFill>
            <a:srgbClr val="FFF2CC"/>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8"/>
          <p:cNvSpPr txBox="1"/>
          <p:nvPr/>
        </p:nvSpPr>
        <p:spPr>
          <a:xfrm>
            <a:off x="6400800" y="2004942"/>
            <a:ext cx="48768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3. Lack of Community Engagement</a:t>
            </a:r>
            <a:r>
              <a:rPr lang="en-US" sz="1800">
                <a:solidFill>
                  <a:schemeClr val="dk1"/>
                </a:solidFill>
                <a:latin typeface="Calibri"/>
                <a:ea typeface="Calibri"/>
                <a:cs typeface="Calibri"/>
                <a:sym typeface="Calibri"/>
              </a:rPr>
              <a:t>: Most platforms are purely transactional "complaint boxes". They lack a social layer for citizens to discuss, upvote, or amplify issues, leading to low adoption and engagement.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4. Limited Scope and Scalability</a:t>
            </a:r>
            <a:r>
              <a:rPr lang="en-US" sz="1800">
                <a:solidFill>
                  <a:schemeClr val="dk1"/>
                </a:solidFill>
                <a:latin typeface="Calibri"/>
                <a:ea typeface="Calibri"/>
                <a:cs typeface="Calibri"/>
                <a:sym typeface="Calibri"/>
              </a:rPr>
              <a:t>: Existing solutions are often restricted to a single city, state, or specific issue (e.g., sanitation, water). There is no single platform designed for nationwide scalability that maintains hyperlocal relevance.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 name="Shape 157"/>
        <p:cNvGrpSpPr/>
        <p:nvPr/>
      </p:nvGrpSpPr>
      <p:grpSpPr>
        <a:xfrm>
          <a:off x="0" y="0"/>
          <a:ext cx="0" cy="0"/>
          <a:chOff x="0" y="0"/>
          <a:chExt cx="0" cy="0"/>
        </a:xfrm>
      </p:grpSpPr>
      <p:pic>
        <p:nvPicPr>
          <p:cNvPr id="158" name="Google Shape;158;p9"/>
          <p:cNvPicPr preferRelativeResize="0"/>
          <p:nvPr>
            <p:ph idx="1" type="body"/>
          </p:nvPr>
        </p:nvPicPr>
        <p:blipFill rotWithShape="1">
          <a:blip r:embed="rId3">
            <a:alphaModFix/>
          </a:blip>
          <a:srcRect b="0" l="0" r="0" t="0"/>
          <a:stretch/>
        </p:blipFill>
        <p:spPr>
          <a:xfrm>
            <a:off x="10575042" y="59511"/>
            <a:ext cx="1163320" cy="1153460"/>
          </a:xfrm>
          <a:prstGeom prst="rect">
            <a:avLst/>
          </a:prstGeom>
          <a:noFill/>
          <a:ln>
            <a:noFill/>
          </a:ln>
        </p:spPr>
      </p:pic>
      <p:sp>
        <p:nvSpPr>
          <p:cNvPr id="159" name="Google Shape;159;p9"/>
          <p:cNvSpPr txBox="1"/>
          <p:nvPr/>
        </p:nvSpPr>
        <p:spPr>
          <a:xfrm>
            <a:off x="228600" y="228600"/>
            <a:ext cx="10515600" cy="598241"/>
          </a:xfrm>
          <a:prstGeom prst="rect">
            <a:avLst/>
          </a:prstGeom>
          <a:noFill/>
          <a:ln>
            <a:noFill/>
          </a:ln>
        </p:spPr>
        <p:txBody>
          <a:bodyPr anchorCtr="0" anchor="ctr" bIns="0" lIns="0" spcFirstLastPara="1" rIns="0" wrap="square" tIns="13325">
            <a:spAutoFit/>
          </a:bodyPr>
          <a:lstStyle/>
          <a:p>
            <a:pPr indent="0" lvl="0" marL="604520" marR="0" rtl="0" algn="l">
              <a:lnSpc>
                <a:spcPct val="100000"/>
              </a:lnSpc>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GANTT Chart: Backend</a:t>
            </a:r>
            <a:endParaRPr sz="3800">
              <a:solidFill>
                <a:schemeClr val="dk1"/>
              </a:solidFill>
              <a:latin typeface="Calibri"/>
              <a:ea typeface="Calibri"/>
              <a:cs typeface="Calibri"/>
              <a:sym typeface="Calibri"/>
            </a:endParaRPr>
          </a:p>
        </p:txBody>
      </p:sp>
      <p:pic>
        <p:nvPicPr>
          <p:cNvPr id="160" name="Google Shape;160;p9"/>
          <p:cNvPicPr preferRelativeResize="0"/>
          <p:nvPr/>
        </p:nvPicPr>
        <p:blipFill rotWithShape="1">
          <a:blip r:embed="rId4">
            <a:alphaModFix/>
          </a:blip>
          <a:srcRect b="0" l="0" r="0" t="0"/>
          <a:stretch/>
        </p:blipFill>
        <p:spPr>
          <a:xfrm>
            <a:off x="361950" y="1212971"/>
            <a:ext cx="11468100" cy="54164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4" name="Shape 164"/>
        <p:cNvGrpSpPr/>
        <p:nvPr/>
      </p:nvGrpSpPr>
      <p:grpSpPr>
        <a:xfrm>
          <a:off x="0" y="0"/>
          <a:ext cx="0" cy="0"/>
          <a:chOff x="0" y="0"/>
          <a:chExt cx="0" cy="0"/>
        </a:xfrm>
      </p:grpSpPr>
      <p:pic>
        <p:nvPicPr>
          <p:cNvPr id="165" name="Google Shape;165;p10"/>
          <p:cNvPicPr preferRelativeResize="0"/>
          <p:nvPr>
            <p:ph idx="1" type="body"/>
          </p:nvPr>
        </p:nvPicPr>
        <p:blipFill rotWithShape="1">
          <a:blip r:embed="rId3">
            <a:alphaModFix/>
          </a:blip>
          <a:srcRect b="0" l="0" r="0" t="0"/>
          <a:stretch/>
        </p:blipFill>
        <p:spPr>
          <a:xfrm>
            <a:off x="10698480" y="284917"/>
            <a:ext cx="1029989" cy="1021259"/>
          </a:xfrm>
          <a:prstGeom prst="rect">
            <a:avLst/>
          </a:prstGeom>
          <a:noFill/>
          <a:ln>
            <a:noFill/>
          </a:ln>
        </p:spPr>
      </p:pic>
      <p:sp>
        <p:nvSpPr>
          <p:cNvPr id="166" name="Google Shape;166;p10"/>
          <p:cNvSpPr txBox="1"/>
          <p:nvPr>
            <p:ph type="title"/>
          </p:nvPr>
        </p:nvSpPr>
        <p:spPr>
          <a:xfrm>
            <a:off x="-244408" y="562597"/>
            <a:ext cx="10515600" cy="598241"/>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800"/>
              <a:buFont typeface="Calibri"/>
              <a:buNone/>
            </a:pPr>
            <a:r>
              <a:rPr lang="en-US" sz="3800"/>
              <a:t>GANTT Chart: Frontend (Mobile + Web Dashboard)</a:t>
            </a:r>
            <a:endParaRPr sz="3800"/>
          </a:p>
        </p:txBody>
      </p:sp>
      <p:pic>
        <p:nvPicPr>
          <p:cNvPr id="167" name="Google Shape;167;p10"/>
          <p:cNvPicPr preferRelativeResize="0"/>
          <p:nvPr/>
        </p:nvPicPr>
        <p:blipFill rotWithShape="1">
          <a:blip r:embed="rId4">
            <a:alphaModFix/>
          </a:blip>
          <a:srcRect b="0" l="0" r="0" t="0"/>
          <a:stretch/>
        </p:blipFill>
        <p:spPr>
          <a:xfrm>
            <a:off x="0" y="1659665"/>
            <a:ext cx="12192000" cy="461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pic>
        <p:nvPicPr>
          <p:cNvPr id="172" name="Google Shape;172;p11"/>
          <p:cNvPicPr preferRelativeResize="0"/>
          <p:nvPr>
            <p:ph idx="1" type="body"/>
          </p:nvPr>
        </p:nvPicPr>
        <p:blipFill rotWithShape="1">
          <a:blip r:embed="rId3">
            <a:alphaModFix/>
          </a:blip>
          <a:srcRect b="0" l="0" r="0" t="0"/>
          <a:stretch/>
        </p:blipFill>
        <p:spPr>
          <a:xfrm>
            <a:off x="10556240" y="365124"/>
            <a:ext cx="1004589" cy="996075"/>
          </a:xfrm>
          <a:prstGeom prst="rect">
            <a:avLst/>
          </a:prstGeom>
          <a:noFill/>
          <a:ln>
            <a:noFill/>
          </a:ln>
        </p:spPr>
      </p:pic>
      <p:sp>
        <p:nvSpPr>
          <p:cNvPr id="173" name="Google Shape;173;p11"/>
          <p:cNvSpPr txBox="1"/>
          <p:nvPr>
            <p:ph type="title"/>
          </p:nvPr>
        </p:nvSpPr>
        <p:spPr>
          <a:xfrm>
            <a:off x="76200" y="740636"/>
            <a:ext cx="10515600" cy="598241"/>
          </a:xfrm>
          <a:prstGeom prst="rect">
            <a:avLst/>
          </a:prstGeom>
          <a:noFill/>
          <a:ln>
            <a:noFill/>
          </a:ln>
        </p:spPr>
        <p:txBody>
          <a:bodyPr anchorCtr="0" anchor="ctr" bIns="0" lIns="0" spcFirstLastPara="1" rIns="0" wrap="square" tIns="13325">
            <a:spAutoFit/>
          </a:bodyPr>
          <a:lstStyle/>
          <a:p>
            <a:pPr indent="0" lvl="0" marL="604520" rtl="0" algn="l">
              <a:lnSpc>
                <a:spcPct val="100000"/>
              </a:lnSpc>
              <a:spcBef>
                <a:spcPts val="0"/>
              </a:spcBef>
              <a:spcAft>
                <a:spcPts val="0"/>
              </a:spcAft>
              <a:buClr>
                <a:schemeClr val="dk1"/>
              </a:buClr>
              <a:buSzPts val="3800"/>
              <a:buFont typeface="Calibri"/>
              <a:buNone/>
            </a:pPr>
            <a:r>
              <a:rPr lang="en-US" sz="3800"/>
              <a:t>Responsibility Chart</a:t>
            </a:r>
            <a:endParaRPr sz="3800"/>
          </a:p>
        </p:txBody>
      </p:sp>
      <p:sp>
        <p:nvSpPr>
          <p:cNvPr id="174" name="Google Shape;174;p11"/>
          <p:cNvSpPr/>
          <p:nvPr/>
        </p:nvSpPr>
        <p:spPr>
          <a:xfrm>
            <a:off x="484972" y="1680529"/>
            <a:ext cx="11277600" cy="4436835"/>
          </a:xfrm>
          <a:prstGeom prst="rect">
            <a:avLst/>
          </a:prstGeom>
          <a:solidFill>
            <a:srgbClr val="FFF2CC"/>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5" name="Google Shape;175;p11"/>
          <p:cNvCxnSpPr/>
          <p:nvPr/>
        </p:nvCxnSpPr>
        <p:spPr>
          <a:xfrm>
            <a:off x="484972" y="3743058"/>
            <a:ext cx="11222056" cy="0"/>
          </a:xfrm>
          <a:prstGeom prst="straightConnector1">
            <a:avLst/>
          </a:prstGeom>
          <a:noFill/>
          <a:ln cap="flat" cmpd="sng" w="12700">
            <a:solidFill>
              <a:schemeClr val="accent1"/>
            </a:solidFill>
            <a:prstDash val="solid"/>
            <a:miter lim="800000"/>
            <a:headEnd len="sm" w="sm" type="none"/>
            <a:tailEnd len="sm" w="sm" type="none"/>
          </a:ln>
        </p:spPr>
      </p:cxnSp>
      <p:cxnSp>
        <p:nvCxnSpPr>
          <p:cNvPr id="176" name="Google Shape;176;p11"/>
          <p:cNvCxnSpPr>
            <a:stCxn id="174" idx="0"/>
            <a:endCxn id="174" idx="2"/>
          </p:cNvCxnSpPr>
          <p:nvPr/>
        </p:nvCxnSpPr>
        <p:spPr>
          <a:xfrm>
            <a:off x="6123772" y="1680529"/>
            <a:ext cx="0" cy="4436700"/>
          </a:xfrm>
          <a:prstGeom prst="straightConnector1">
            <a:avLst/>
          </a:prstGeom>
          <a:noFill/>
          <a:ln cap="flat" cmpd="sng" w="12700">
            <a:solidFill>
              <a:schemeClr val="accent1"/>
            </a:solidFill>
            <a:prstDash val="solid"/>
            <a:miter lim="800000"/>
            <a:headEnd len="sm" w="sm" type="none"/>
            <a:tailEnd len="sm" w="sm" type="none"/>
          </a:ln>
        </p:spPr>
      </p:cxnSp>
      <p:sp>
        <p:nvSpPr>
          <p:cNvPr id="177" name="Google Shape;177;p11"/>
          <p:cNvSpPr txBox="1"/>
          <p:nvPr/>
        </p:nvSpPr>
        <p:spPr>
          <a:xfrm>
            <a:off x="609600" y="1952762"/>
            <a:ext cx="54788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Saumil Kulshreshtha (22CSU158)</a:t>
            </a:r>
            <a:endParaRPr/>
          </a:p>
        </p:txBody>
      </p:sp>
      <p:sp>
        <p:nvSpPr>
          <p:cNvPr id="178" name="Google Shape;178;p11"/>
          <p:cNvSpPr txBox="1"/>
          <p:nvPr/>
        </p:nvSpPr>
        <p:spPr>
          <a:xfrm>
            <a:off x="6225010" y="3832778"/>
            <a:ext cx="3581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Vikas Kumar (22CSU190)</a:t>
            </a:r>
            <a:endParaRPr/>
          </a:p>
        </p:txBody>
      </p:sp>
      <p:sp>
        <p:nvSpPr>
          <p:cNvPr id="179" name="Google Shape;179;p11"/>
          <p:cNvSpPr txBox="1"/>
          <p:nvPr/>
        </p:nvSpPr>
        <p:spPr>
          <a:xfrm>
            <a:off x="609599" y="3840508"/>
            <a:ext cx="3581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Shubh Pundir (22CSU165)</a:t>
            </a:r>
            <a:endParaRPr/>
          </a:p>
        </p:txBody>
      </p:sp>
      <p:sp>
        <p:nvSpPr>
          <p:cNvPr id="180" name="Google Shape;180;p11"/>
          <p:cNvSpPr txBox="1"/>
          <p:nvPr/>
        </p:nvSpPr>
        <p:spPr>
          <a:xfrm>
            <a:off x="6172199" y="1952762"/>
            <a:ext cx="47243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Shivesh Kumar Dhiman (22CSU164)</a:t>
            </a:r>
            <a:endParaRPr/>
          </a:p>
        </p:txBody>
      </p:sp>
      <p:sp>
        <p:nvSpPr>
          <p:cNvPr id="181" name="Google Shape;181;p11"/>
          <p:cNvSpPr txBox="1"/>
          <p:nvPr/>
        </p:nvSpPr>
        <p:spPr>
          <a:xfrm>
            <a:off x="609599" y="2292625"/>
            <a:ext cx="5250254"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Designing and developing the user interface of the mobile application using Flutter.</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Ensuring a user-friendly and intuitive experience for issue posting and tracking.</a:t>
            </a:r>
            <a:endParaRPr/>
          </a:p>
        </p:txBody>
      </p:sp>
      <p:sp>
        <p:nvSpPr>
          <p:cNvPr id="182" name="Google Shape;182;p11"/>
          <p:cNvSpPr txBox="1"/>
          <p:nvPr/>
        </p:nvSpPr>
        <p:spPr>
          <a:xfrm>
            <a:off x="569613" y="4209840"/>
            <a:ext cx="538681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Implementing AI functionalities (e.g., automatic issue categorization, duplicate detection).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Developing backend APIs using Spring Boot for issue management.</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Created Agentic AI Workflow microservice to reduce administration overhead by government offices for plan creation, workflow orchestration of the APIs/microservices</a:t>
            </a:r>
            <a:endParaRPr/>
          </a:p>
        </p:txBody>
      </p:sp>
      <p:sp>
        <p:nvSpPr>
          <p:cNvPr id="183" name="Google Shape;183;p11"/>
          <p:cNvSpPr txBox="1"/>
          <p:nvPr/>
        </p:nvSpPr>
        <p:spPr>
          <a:xfrm>
            <a:off x="6255943" y="2292625"/>
            <a:ext cx="49530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Assisting in frontend development tasks</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Managing application deployment pipelines (CI/CD)</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Ensuring proper cloud resource allocation, scalability, and reliability</a:t>
            </a:r>
            <a:endParaRPr/>
          </a:p>
        </p:txBody>
      </p:sp>
      <p:sp>
        <p:nvSpPr>
          <p:cNvPr id="184" name="Google Shape;184;p11"/>
          <p:cNvSpPr txBox="1"/>
          <p:nvPr/>
        </p:nvSpPr>
        <p:spPr>
          <a:xfrm>
            <a:off x="6248398" y="4255507"/>
            <a:ext cx="487680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Leading the backend development team</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Designing and implementing the database schema using PostgreSQL and MongoDB</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600">
                <a:solidFill>
                  <a:schemeClr val="dk1"/>
                </a:solidFill>
                <a:latin typeface="Calibri"/>
                <a:ea typeface="Calibri"/>
                <a:cs typeface="Calibri"/>
                <a:sym typeface="Calibri"/>
              </a:rPr>
              <a:t>Ensuring scalability and performance of the backend system</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p12"/>
          <p:cNvSpPr txBox="1"/>
          <p:nvPr>
            <p:ph type="title"/>
          </p:nvPr>
        </p:nvSpPr>
        <p:spPr>
          <a:xfrm>
            <a:off x="0" y="286303"/>
            <a:ext cx="12192000" cy="92333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Tools/Platforms Used</a:t>
            </a:r>
            <a:endParaRPr sz="4800"/>
          </a:p>
        </p:txBody>
      </p:sp>
      <p:pic>
        <p:nvPicPr>
          <p:cNvPr id="190" name="Google Shape;190;p12"/>
          <p:cNvPicPr preferRelativeResize="0"/>
          <p:nvPr>
            <p:ph idx="1" type="body"/>
          </p:nvPr>
        </p:nvPicPr>
        <p:blipFill rotWithShape="1">
          <a:blip r:embed="rId3">
            <a:alphaModFix/>
          </a:blip>
          <a:srcRect b="0" l="0" r="0" t="0"/>
          <a:stretch/>
        </p:blipFill>
        <p:spPr>
          <a:xfrm>
            <a:off x="10839960" y="162224"/>
            <a:ext cx="984269" cy="975927"/>
          </a:xfrm>
          <a:prstGeom prst="rect">
            <a:avLst/>
          </a:prstGeom>
          <a:noFill/>
          <a:ln>
            <a:noFill/>
          </a:ln>
        </p:spPr>
      </p:pic>
      <p:sp>
        <p:nvSpPr>
          <p:cNvPr id="191" name="Google Shape;191;p12"/>
          <p:cNvSpPr txBox="1"/>
          <p:nvPr/>
        </p:nvSpPr>
        <p:spPr>
          <a:xfrm>
            <a:off x="838200" y="2042595"/>
            <a:ext cx="94765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Backend Development: Spring Boot for Java based, production-ready backend for social media. </a:t>
            </a:r>
            <a:r>
              <a:rPr lang="en-US" sz="1800" u="sng">
                <a:solidFill>
                  <a:schemeClr val="dk1"/>
                </a:solidFill>
                <a:latin typeface="Calibri"/>
                <a:ea typeface="Calibri"/>
                <a:cs typeface="Calibri"/>
                <a:sym typeface="Calibri"/>
                <a:hlinkClick r:id="rId4">
                  <a:extLst>
                    <a:ext uri="{A12FA001-AC4F-418D-AE19-62706E023703}">
                      <ahyp:hlinkClr val="tx"/>
                    </a:ext>
                  </a:extLst>
                </a:hlinkClick>
              </a:rPr>
              <a:t>Spring Backend GitHub Link</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92" name="Google Shape;192;p12"/>
          <p:cNvSpPr txBox="1"/>
          <p:nvPr/>
        </p:nvSpPr>
        <p:spPr>
          <a:xfrm>
            <a:off x="838200" y="1262230"/>
            <a:ext cx="956203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Frontend Development: Flutter for cross platform mobile first application + NextJS for landing page and web based agentic AI workflow dashboard. </a:t>
            </a:r>
            <a:r>
              <a:rPr lang="en-US" sz="1800" u="sng">
                <a:solidFill>
                  <a:schemeClr val="dk1"/>
                </a:solidFill>
                <a:latin typeface="Calibri"/>
                <a:ea typeface="Calibri"/>
                <a:cs typeface="Calibri"/>
                <a:sym typeface="Calibri"/>
                <a:hlinkClick r:id="rId5">
                  <a:extLst>
                    <a:ext uri="{A12FA001-AC4F-418D-AE19-62706E023703}">
                      <ahyp:hlinkClr val="tx"/>
                    </a:ext>
                  </a:extLst>
                </a:hlinkClick>
              </a:rPr>
              <a:t>Landing Page Link</a:t>
            </a:r>
            <a:r>
              <a:rPr lang="en-US" sz="1800">
                <a:solidFill>
                  <a:schemeClr val="dk1"/>
                </a:solidFill>
                <a:latin typeface="Calibri"/>
                <a:ea typeface="Calibri"/>
                <a:cs typeface="Calibri"/>
                <a:sym typeface="Calibri"/>
              </a:rPr>
              <a:t>. </a:t>
            </a:r>
            <a:r>
              <a:rPr lang="en-US" sz="1800" u="sng">
                <a:solidFill>
                  <a:schemeClr val="dk1"/>
                </a:solidFill>
                <a:latin typeface="Calibri"/>
                <a:ea typeface="Calibri"/>
                <a:cs typeface="Calibri"/>
                <a:sym typeface="Calibri"/>
                <a:hlinkClick r:id="rId6">
                  <a:extLst>
                    <a:ext uri="{A12FA001-AC4F-418D-AE19-62706E023703}">
                      <ahyp:hlinkClr val="tx"/>
                    </a:ext>
                  </a:extLst>
                </a:hlinkClick>
              </a:rPr>
              <a:t>Mobile App GitHub Link</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93" name="Google Shape;193;p12"/>
          <p:cNvSpPr txBox="1"/>
          <p:nvPr/>
        </p:nvSpPr>
        <p:spPr>
          <a:xfrm>
            <a:off x="838200" y="2898290"/>
            <a:ext cx="853512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Agentic AI: Python FastAPI based agentic AI workflow backend using Gemini + Temporal.io for workflow orchestration. </a:t>
            </a:r>
            <a:r>
              <a:rPr lang="en-US" sz="1800" u="sng">
                <a:solidFill>
                  <a:schemeClr val="dk1"/>
                </a:solidFill>
                <a:latin typeface="Calibri"/>
                <a:ea typeface="Calibri"/>
                <a:cs typeface="Calibri"/>
                <a:sym typeface="Calibri"/>
                <a:hlinkClick r:id="rId7">
                  <a:extLst>
                    <a:ext uri="{A12FA001-AC4F-418D-AE19-62706E023703}">
                      <ahyp:hlinkClr val="tx"/>
                    </a:ext>
                  </a:extLst>
                </a:hlinkClick>
              </a:rPr>
              <a:t>Agentic AI Workflow GitHub Link</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94" name="Google Shape;194;p12"/>
          <p:cNvSpPr txBox="1"/>
          <p:nvPr/>
        </p:nvSpPr>
        <p:spPr>
          <a:xfrm>
            <a:off x="838200" y="4611338"/>
            <a:ext cx="956203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Cloud Deployment + DevOps : AWS Beanstalk for hosting backend microservices and using gRPC for cross API communication. Vercel for frontend deployment of AI Workflow and Landing Page. Both above powered by GitHub actions and CI/CD tools such as Jenkins.</a:t>
            </a:r>
            <a:endParaRPr sz="1800">
              <a:solidFill>
                <a:schemeClr val="dk1"/>
              </a:solidFill>
              <a:latin typeface="Calibri"/>
              <a:ea typeface="Calibri"/>
              <a:cs typeface="Calibri"/>
              <a:sym typeface="Calibri"/>
            </a:endParaRPr>
          </a:p>
        </p:txBody>
      </p:sp>
      <p:sp>
        <p:nvSpPr>
          <p:cNvPr id="195" name="Google Shape;195;p12"/>
          <p:cNvSpPr txBox="1"/>
          <p:nvPr/>
        </p:nvSpPr>
        <p:spPr>
          <a:xfrm>
            <a:off x="838200" y="5919229"/>
            <a:ext cx="9562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Database: Free Tier of hosted PostgreSQL NeonDB server and connected via DBeaver.</a:t>
            </a:r>
            <a:endParaRPr sz="1800">
              <a:solidFill>
                <a:schemeClr val="dk1"/>
              </a:solidFill>
              <a:latin typeface="Calibri"/>
              <a:ea typeface="Calibri"/>
              <a:cs typeface="Calibri"/>
              <a:sym typeface="Calibri"/>
            </a:endParaRPr>
          </a:p>
        </p:txBody>
      </p:sp>
      <p:sp>
        <p:nvSpPr>
          <p:cNvPr id="196" name="Google Shape;196;p12"/>
          <p:cNvSpPr txBox="1"/>
          <p:nvPr/>
        </p:nvSpPr>
        <p:spPr>
          <a:xfrm>
            <a:off x="838200" y="3703238"/>
            <a:ext cx="97244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AI/ML models: Fine-tuned hugging face and open-sourced models for post duplication, Image Caption Generation, AQI Assessment, Hate Speech Generation, etc. </a:t>
            </a:r>
            <a:endParaRPr sz="1800">
              <a:solidFill>
                <a:schemeClr val="dk1"/>
              </a:solidFill>
              <a:latin typeface="Calibri"/>
              <a:ea typeface="Calibri"/>
              <a:cs typeface="Calibri"/>
              <a:sym typeface="Calibri"/>
            </a:endParaRPr>
          </a:p>
        </p:txBody>
      </p:sp>
      <p:sp>
        <p:nvSpPr>
          <p:cNvPr descr="Aws PNG Images - CleanPNG" id="197" name="Google Shape;197;p12"/>
          <p:cNvSpPr/>
          <p:nvPr/>
        </p:nvSpPr>
        <p:spPr>
          <a:xfrm>
            <a:off x="3290131" y="3276599"/>
            <a:ext cx="2958269" cy="295826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ownload Amazon Web Services (AWS) Logo in SVG Vector or PNG ..." id="198" name="Google Shape;198;p12"/>
          <p:cNvPicPr preferRelativeResize="0"/>
          <p:nvPr/>
        </p:nvPicPr>
        <p:blipFill rotWithShape="1">
          <a:blip r:embed="rId8">
            <a:alphaModFix/>
          </a:blip>
          <a:srcRect b="0" l="0" r="0" t="0"/>
          <a:stretch/>
        </p:blipFill>
        <p:spPr>
          <a:xfrm>
            <a:off x="7345374" y="5190118"/>
            <a:ext cx="1249443" cy="832962"/>
          </a:xfrm>
          <a:prstGeom prst="rect">
            <a:avLst/>
          </a:prstGeom>
          <a:noFill/>
          <a:ln>
            <a:noFill/>
          </a:ln>
        </p:spPr>
      </p:pic>
      <p:pic>
        <p:nvPicPr>
          <p:cNvPr descr="Spring Boot Logo icon PNG HD Download With Transparent Background | PNGHDPro" id="199" name="Google Shape;199;p12"/>
          <p:cNvPicPr preferRelativeResize="0"/>
          <p:nvPr/>
        </p:nvPicPr>
        <p:blipFill rotWithShape="1">
          <a:blip r:embed="rId9">
            <a:alphaModFix/>
          </a:blip>
          <a:srcRect b="0" l="0" r="0" t="0"/>
          <a:stretch/>
        </p:blipFill>
        <p:spPr>
          <a:xfrm>
            <a:off x="9442525" y="2476545"/>
            <a:ext cx="786164" cy="786164"/>
          </a:xfrm>
          <a:prstGeom prst="rect">
            <a:avLst/>
          </a:prstGeom>
          <a:noFill/>
          <a:ln>
            <a:noFill/>
          </a:ln>
        </p:spPr>
      </p:pic>
      <p:pic>
        <p:nvPicPr>
          <p:cNvPr descr="Vercel | Drupal.org" id="200" name="Google Shape;200;p12"/>
          <p:cNvPicPr preferRelativeResize="0"/>
          <p:nvPr/>
        </p:nvPicPr>
        <p:blipFill rotWithShape="1">
          <a:blip r:embed="rId10">
            <a:alphaModFix/>
          </a:blip>
          <a:srcRect b="0" l="0" r="0" t="0"/>
          <a:stretch/>
        </p:blipFill>
        <p:spPr>
          <a:xfrm>
            <a:off x="9691791" y="5322594"/>
            <a:ext cx="2042065" cy="460262"/>
          </a:xfrm>
          <a:prstGeom prst="rect">
            <a:avLst/>
          </a:prstGeom>
          <a:noFill/>
          <a:ln>
            <a:noFill/>
          </a:ln>
        </p:spPr>
      </p:pic>
      <p:pic>
        <p:nvPicPr>
          <p:cNvPr descr="FastAPI" id="201" name="Google Shape;201;p12"/>
          <p:cNvPicPr preferRelativeResize="0"/>
          <p:nvPr/>
        </p:nvPicPr>
        <p:blipFill rotWithShape="1">
          <a:blip r:embed="rId11">
            <a:alphaModFix/>
          </a:blip>
          <a:srcRect b="0" l="0" r="0" t="0"/>
          <a:stretch/>
        </p:blipFill>
        <p:spPr>
          <a:xfrm>
            <a:off x="9695574" y="3822359"/>
            <a:ext cx="2465957" cy="888612"/>
          </a:xfrm>
          <a:prstGeom prst="rect">
            <a:avLst/>
          </a:prstGeom>
          <a:noFill/>
          <a:ln>
            <a:noFill/>
          </a:ln>
        </p:spPr>
      </p:pic>
      <p:pic>
        <p:nvPicPr>
          <p:cNvPr id="202" name="Google Shape;202;p12"/>
          <p:cNvPicPr preferRelativeResize="0"/>
          <p:nvPr/>
        </p:nvPicPr>
        <p:blipFill rotWithShape="1">
          <a:blip r:embed="rId12">
            <a:alphaModFix/>
          </a:blip>
          <a:srcRect b="0" l="0" r="0" t="0"/>
          <a:stretch/>
        </p:blipFill>
        <p:spPr>
          <a:xfrm>
            <a:off x="10277930" y="1263095"/>
            <a:ext cx="607521" cy="607521"/>
          </a:xfrm>
          <a:prstGeom prst="rect">
            <a:avLst/>
          </a:prstGeom>
          <a:noFill/>
          <a:ln>
            <a:noFill/>
          </a:ln>
        </p:spPr>
      </p:pic>
      <p:pic>
        <p:nvPicPr>
          <p:cNvPr descr="Brand assets - Hugging Face" id="203" name="Google Shape;203;p12"/>
          <p:cNvPicPr preferRelativeResize="0"/>
          <p:nvPr/>
        </p:nvPicPr>
        <p:blipFill rotWithShape="1">
          <a:blip r:embed="rId13">
            <a:alphaModFix/>
          </a:blip>
          <a:srcRect b="0" l="0" r="0" t="0"/>
          <a:stretch/>
        </p:blipFill>
        <p:spPr>
          <a:xfrm>
            <a:off x="6949775" y="4014359"/>
            <a:ext cx="791198" cy="791198"/>
          </a:xfrm>
          <a:prstGeom prst="rect">
            <a:avLst/>
          </a:prstGeom>
          <a:noFill/>
          <a:ln>
            <a:noFill/>
          </a:ln>
        </p:spPr>
      </p:pic>
      <p:pic>
        <p:nvPicPr>
          <p:cNvPr descr="Next js logo Icon" id="204" name="Google Shape;204;p12"/>
          <p:cNvPicPr preferRelativeResize="0"/>
          <p:nvPr/>
        </p:nvPicPr>
        <p:blipFill rotWithShape="1">
          <a:blip r:embed="rId14">
            <a:alphaModFix/>
          </a:blip>
          <a:srcRect b="0" l="0" r="0" t="0"/>
          <a:stretch/>
        </p:blipFill>
        <p:spPr>
          <a:xfrm>
            <a:off x="11297518" y="1605612"/>
            <a:ext cx="681783" cy="681783"/>
          </a:xfrm>
          <a:prstGeom prst="rect">
            <a:avLst/>
          </a:prstGeom>
          <a:noFill/>
          <a:ln>
            <a:noFill/>
          </a:ln>
        </p:spPr>
      </p:pic>
      <p:pic>
        <p:nvPicPr>
          <p:cNvPr descr="AWS Marketplace: Neon" id="205" name="Google Shape;205;p12"/>
          <p:cNvPicPr preferRelativeResize="0"/>
          <p:nvPr/>
        </p:nvPicPr>
        <p:blipFill rotWithShape="1">
          <a:blip r:embed="rId15">
            <a:alphaModFix/>
          </a:blip>
          <a:srcRect b="0" l="0" r="0" t="0"/>
          <a:stretch/>
        </p:blipFill>
        <p:spPr>
          <a:xfrm>
            <a:off x="9929251" y="6106744"/>
            <a:ext cx="1709159" cy="483817"/>
          </a:xfrm>
          <a:prstGeom prst="rect">
            <a:avLst/>
          </a:prstGeom>
          <a:noFill/>
          <a:ln>
            <a:noFill/>
          </a:ln>
        </p:spPr>
      </p:pic>
      <p:pic>
        <p:nvPicPr>
          <p:cNvPr descr="Brand | Temporal" id="206" name="Google Shape;206;p12"/>
          <p:cNvPicPr preferRelativeResize="0"/>
          <p:nvPr/>
        </p:nvPicPr>
        <p:blipFill rotWithShape="1">
          <a:blip r:embed="rId16">
            <a:alphaModFix/>
          </a:blip>
          <a:srcRect b="0" l="0" r="0" t="0"/>
          <a:stretch/>
        </p:blipFill>
        <p:spPr>
          <a:xfrm>
            <a:off x="10029668" y="2318247"/>
            <a:ext cx="2071750" cy="1418602"/>
          </a:xfrm>
          <a:prstGeom prst="rect">
            <a:avLst/>
          </a:prstGeom>
          <a:noFill/>
          <a:ln>
            <a:noFill/>
          </a:ln>
        </p:spPr>
      </p:pic>
      <p:pic>
        <p:nvPicPr>
          <p:cNvPr id="207" name="Google Shape;207;p12"/>
          <p:cNvPicPr preferRelativeResize="0"/>
          <p:nvPr/>
        </p:nvPicPr>
        <p:blipFill rotWithShape="1">
          <a:blip r:embed="rId17">
            <a:alphaModFix/>
          </a:blip>
          <a:srcRect b="0" l="0" r="0" t="0"/>
          <a:stretch/>
        </p:blipFill>
        <p:spPr>
          <a:xfrm>
            <a:off x="8958786" y="5907121"/>
            <a:ext cx="829071" cy="8290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 name="Shape 211"/>
        <p:cNvGrpSpPr/>
        <p:nvPr/>
      </p:nvGrpSpPr>
      <p:grpSpPr>
        <a:xfrm>
          <a:off x="0" y="0"/>
          <a:ext cx="0" cy="0"/>
          <a:chOff x="0" y="0"/>
          <a:chExt cx="0" cy="0"/>
        </a:xfrm>
      </p:grpSpPr>
      <p:sp>
        <p:nvSpPr>
          <p:cNvPr id="212" name="Google Shape;212;p13"/>
          <p:cNvSpPr txBox="1"/>
          <p:nvPr>
            <p:ph type="title"/>
          </p:nvPr>
        </p:nvSpPr>
        <p:spPr>
          <a:xfrm>
            <a:off x="838200" y="365126"/>
            <a:ext cx="10515600" cy="119021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Design Methodology/Research Methodology</a:t>
            </a:r>
            <a:br>
              <a:rPr lang="en-US" sz="1800">
                <a:latin typeface="Calibri"/>
                <a:ea typeface="Calibri"/>
                <a:cs typeface="Calibri"/>
                <a:sym typeface="Calibri"/>
              </a:rPr>
            </a:br>
            <a:endParaRPr/>
          </a:p>
        </p:txBody>
      </p:sp>
      <p:pic>
        <p:nvPicPr>
          <p:cNvPr id="213" name="Google Shape;213;p13"/>
          <p:cNvPicPr preferRelativeResize="0"/>
          <p:nvPr>
            <p:ph idx="1" type="body"/>
          </p:nvPr>
        </p:nvPicPr>
        <p:blipFill rotWithShape="1">
          <a:blip r:embed="rId3">
            <a:alphaModFix/>
          </a:blip>
          <a:srcRect b="0" l="0" r="0" t="0"/>
          <a:stretch/>
        </p:blipFill>
        <p:spPr>
          <a:xfrm>
            <a:off x="10806696" y="284918"/>
            <a:ext cx="921774" cy="913962"/>
          </a:xfrm>
          <a:prstGeom prst="rect">
            <a:avLst/>
          </a:prstGeom>
          <a:noFill/>
          <a:ln>
            <a:noFill/>
          </a:ln>
        </p:spPr>
      </p:pic>
      <p:pic>
        <p:nvPicPr>
          <p:cNvPr descr="A screenshot of a computer screen&#10;&#10;AI-generated content may be incorrect." id="214" name="Google Shape;214;p13"/>
          <p:cNvPicPr preferRelativeResize="0"/>
          <p:nvPr/>
        </p:nvPicPr>
        <p:blipFill rotWithShape="1">
          <a:blip r:embed="rId4">
            <a:alphaModFix/>
          </a:blip>
          <a:srcRect b="0" l="0" r="0" t="0"/>
          <a:stretch/>
        </p:blipFill>
        <p:spPr>
          <a:xfrm>
            <a:off x="838200" y="1437799"/>
            <a:ext cx="9833361" cy="496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170597" y="77149"/>
            <a:ext cx="12049500" cy="77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Outcome</a:t>
            </a:r>
            <a:endParaRPr/>
          </a:p>
        </p:txBody>
      </p:sp>
      <p:pic>
        <p:nvPicPr>
          <p:cNvPr id="220" name="Google Shape;220;p14"/>
          <p:cNvPicPr preferRelativeResize="0"/>
          <p:nvPr>
            <p:ph idx="1" type="body"/>
          </p:nvPr>
        </p:nvPicPr>
        <p:blipFill rotWithShape="1">
          <a:blip r:embed="rId3">
            <a:alphaModFix/>
          </a:blip>
          <a:srcRect b="0" l="0" r="0" t="0"/>
          <a:stretch/>
        </p:blipFill>
        <p:spPr>
          <a:xfrm>
            <a:off x="10878735" y="-12597"/>
            <a:ext cx="1112520" cy="1103091"/>
          </a:xfrm>
          <a:prstGeom prst="rect">
            <a:avLst/>
          </a:prstGeom>
          <a:noFill/>
          <a:ln>
            <a:noFill/>
          </a:ln>
        </p:spPr>
      </p:pic>
      <p:sp>
        <p:nvSpPr>
          <p:cNvPr id="221" name="Google Shape;221;p14"/>
          <p:cNvSpPr/>
          <p:nvPr/>
        </p:nvSpPr>
        <p:spPr>
          <a:xfrm>
            <a:off x="436905" y="1033205"/>
            <a:ext cx="3455967" cy="2458751"/>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4"/>
          <p:cNvSpPr txBox="1"/>
          <p:nvPr/>
        </p:nvSpPr>
        <p:spPr>
          <a:xfrm>
            <a:off x="435573" y="1180287"/>
            <a:ext cx="34559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SPRING BACKEND</a:t>
            </a:r>
            <a:endParaRPr b="1" sz="1800">
              <a:solidFill>
                <a:schemeClr val="dk1"/>
              </a:solidFill>
              <a:latin typeface="Calibri"/>
              <a:ea typeface="Calibri"/>
              <a:cs typeface="Calibri"/>
              <a:sym typeface="Calibri"/>
            </a:endParaRPr>
          </a:p>
        </p:txBody>
      </p:sp>
      <p:sp>
        <p:nvSpPr>
          <p:cNvPr id="223" name="Google Shape;223;p14"/>
          <p:cNvSpPr txBox="1"/>
          <p:nvPr/>
        </p:nvSpPr>
        <p:spPr>
          <a:xfrm>
            <a:off x="435574" y="1598697"/>
            <a:ext cx="3455966" cy="160043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High-performance microservice backend deployed on AWS.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Supports thousands of concurrent users with auto-scaling and secure prod ready API management.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Real-time data sync for issues, user actions, and AI workflows.</a:t>
            </a:r>
            <a:endParaRPr sz="1400">
              <a:solidFill>
                <a:schemeClr val="dk1"/>
              </a:solidFill>
              <a:latin typeface="Calibri"/>
              <a:ea typeface="Calibri"/>
              <a:cs typeface="Calibri"/>
              <a:sym typeface="Calibri"/>
            </a:endParaRPr>
          </a:p>
        </p:txBody>
      </p:sp>
      <p:sp>
        <p:nvSpPr>
          <p:cNvPr id="224" name="Google Shape;224;p14"/>
          <p:cNvSpPr/>
          <p:nvPr/>
        </p:nvSpPr>
        <p:spPr>
          <a:xfrm>
            <a:off x="4458726" y="972539"/>
            <a:ext cx="3428927" cy="2576747"/>
          </a:xfrm>
          <a:prstGeom prst="roundRect">
            <a:avLst>
              <a:gd fmla="val 16667" name="adj"/>
            </a:avLst>
          </a:prstGeom>
          <a:solidFill>
            <a:srgbClr val="B3C6E7"/>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4"/>
          <p:cNvSpPr txBox="1"/>
          <p:nvPr/>
        </p:nvSpPr>
        <p:spPr>
          <a:xfrm>
            <a:off x="4458727" y="1093335"/>
            <a:ext cx="328405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FLUTTER MOBILE APP</a:t>
            </a:r>
            <a:endParaRPr b="1" sz="1800">
              <a:solidFill>
                <a:schemeClr val="dk1"/>
              </a:solidFill>
              <a:latin typeface="Calibri"/>
              <a:ea typeface="Calibri"/>
              <a:cs typeface="Calibri"/>
              <a:sym typeface="Calibri"/>
            </a:endParaRPr>
          </a:p>
        </p:txBody>
      </p:sp>
      <p:sp>
        <p:nvSpPr>
          <p:cNvPr id="226" name="Google Shape;226;p14"/>
          <p:cNvSpPr txBox="1"/>
          <p:nvPr/>
        </p:nvSpPr>
        <p:spPr>
          <a:xfrm>
            <a:off x="4457396" y="1490314"/>
            <a:ext cx="3430500" cy="1816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Cross-platform citizen app for posting issues, discussions, upvoting, and tracking resolutions.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Smooth, fast UI with native-like performance across Android and iOS.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Instant notifications, location tagging, media upload, and live status tr</a:t>
            </a:r>
            <a:endParaRPr sz="1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acking.</a:t>
            </a:r>
            <a:endParaRPr/>
          </a:p>
        </p:txBody>
      </p:sp>
      <p:sp>
        <p:nvSpPr>
          <p:cNvPr id="227" name="Google Shape;227;p14"/>
          <p:cNvSpPr/>
          <p:nvPr/>
        </p:nvSpPr>
        <p:spPr>
          <a:xfrm>
            <a:off x="350377" y="3764627"/>
            <a:ext cx="3656793" cy="2764359"/>
          </a:xfrm>
          <a:prstGeom prst="roundRect">
            <a:avLst>
              <a:gd fmla="val 16667" name="adj"/>
            </a:avLst>
          </a:prstGeom>
          <a:solidFill>
            <a:srgbClr val="E1EFD8"/>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4"/>
          <p:cNvSpPr txBox="1"/>
          <p:nvPr/>
        </p:nvSpPr>
        <p:spPr>
          <a:xfrm>
            <a:off x="350378" y="3881331"/>
            <a:ext cx="365679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AI WORKFLOW ENGINE</a:t>
            </a:r>
            <a:endParaRPr b="1" sz="1800">
              <a:solidFill>
                <a:schemeClr val="dk1"/>
              </a:solidFill>
              <a:latin typeface="Calibri"/>
              <a:ea typeface="Calibri"/>
              <a:cs typeface="Calibri"/>
              <a:sym typeface="Calibri"/>
            </a:endParaRPr>
          </a:p>
        </p:txBody>
      </p:sp>
      <p:sp>
        <p:nvSpPr>
          <p:cNvPr id="229" name="Google Shape;229;p14"/>
          <p:cNvSpPr txBox="1"/>
          <p:nvPr/>
        </p:nvSpPr>
        <p:spPr>
          <a:xfrm>
            <a:off x="350376" y="4236975"/>
            <a:ext cx="3656791"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Automatically analyses incoming issues and triggers decision workflows.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Mimics admin decision patterns using rule-based + LLM-based reasoning.</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Assigns priority, detects duplicates, and routes issues to correct administrative buckets.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Enables “zero-touch” issue resolution for common cases.</a:t>
            </a:r>
            <a:endParaRPr sz="1400">
              <a:solidFill>
                <a:schemeClr val="dk1"/>
              </a:solidFill>
              <a:latin typeface="Calibri"/>
              <a:ea typeface="Calibri"/>
              <a:cs typeface="Calibri"/>
              <a:sym typeface="Calibri"/>
            </a:endParaRPr>
          </a:p>
        </p:txBody>
      </p:sp>
      <p:sp>
        <p:nvSpPr>
          <p:cNvPr id="230" name="Google Shape;230;p14"/>
          <p:cNvSpPr/>
          <p:nvPr/>
        </p:nvSpPr>
        <p:spPr>
          <a:xfrm>
            <a:off x="4389027" y="3751067"/>
            <a:ext cx="3498742" cy="2741956"/>
          </a:xfrm>
          <a:prstGeom prst="roundRect">
            <a:avLst>
              <a:gd fmla="val 16667" name="adj"/>
            </a:avLst>
          </a:prstGeom>
          <a:solidFill>
            <a:srgbClr val="B3C6E7"/>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4"/>
          <p:cNvSpPr txBox="1"/>
          <p:nvPr/>
        </p:nvSpPr>
        <p:spPr>
          <a:xfrm>
            <a:off x="4373066" y="3903745"/>
            <a:ext cx="339335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NEXT.JS</a:t>
            </a:r>
            <a:r>
              <a:rPr b="1" lang="en-US" sz="1800">
                <a:solidFill>
                  <a:schemeClr val="dk1"/>
                </a:solidFill>
                <a:latin typeface="Calibri"/>
                <a:ea typeface="Calibri"/>
                <a:cs typeface="Calibri"/>
                <a:sym typeface="Calibri"/>
              </a:rPr>
              <a:t> WEBSITE</a:t>
            </a:r>
            <a:endParaRPr b="1" sz="1800">
              <a:solidFill>
                <a:schemeClr val="dk1"/>
              </a:solidFill>
              <a:latin typeface="Calibri"/>
              <a:ea typeface="Calibri"/>
              <a:cs typeface="Calibri"/>
              <a:sym typeface="Calibri"/>
            </a:endParaRPr>
          </a:p>
        </p:txBody>
      </p:sp>
      <p:sp>
        <p:nvSpPr>
          <p:cNvPr id="232" name="Google Shape;232;p14"/>
          <p:cNvSpPr txBox="1"/>
          <p:nvPr/>
        </p:nvSpPr>
        <p:spPr>
          <a:xfrm>
            <a:off x="4389024" y="4273077"/>
            <a:ext cx="3498600" cy="1816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Hosted Web-based</a:t>
            </a:r>
            <a:r>
              <a:rPr lang="en-US">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command center for reviewing issues, verifying duplicates, and issuing resolutions.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Real-time insights, analytics charts, workflow monitoring, and case-handling tools.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Secure role-based access for moderators, admins, and audit teams.</a:t>
            </a:r>
            <a:endParaRPr sz="1400">
              <a:solidFill>
                <a:schemeClr val="dk1"/>
              </a:solidFill>
              <a:latin typeface="Calibri"/>
              <a:ea typeface="Calibri"/>
              <a:cs typeface="Calibri"/>
              <a:sym typeface="Calibri"/>
            </a:endParaRPr>
          </a:p>
        </p:txBody>
      </p:sp>
      <p:sp>
        <p:nvSpPr>
          <p:cNvPr id="233" name="Google Shape;233;p14"/>
          <p:cNvSpPr/>
          <p:nvPr/>
        </p:nvSpPr>
        <p:spPr>
          <a:xfrm>
            <a:off x="8199275" y="1759351"/>
            <a:ext cx="3642300" cy="3259200"/>
          </a:xfrm>
          <a:prstGeom prst="roundRect">
            <a:avLst>
              <a:gd fmla="val 16667" name="adj"/>
            </a:avLst>
          </a:prstGeom>
          <a:solidFill>
            <a:srgbClr val="FBE4D4"/>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4"/>
          <p:cNvSpPr txBox="1"/>
          <p:nvPr/>
        </p:nvSpPr>
        <p:spPr>
          <a:xfrm>
            <a:off x="8199278" y="1809554"/>
            <a:ext cx="332045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NLP + CV Models</a:t>
            </a:r>
            <a:endParaRPr b="1" sz="1800">
              <a:solidFill>
                <a:schemeClr val="dk1"/>
              </a:solidFill>
              <a:latin typeface="Calibri"/>
              <a:ea typeface="Calibri"/>
              <a:cs typeface="Calibri"/>
              <a:sym typeface="Calibri"/>
            </a:endParaRPr>
          </a:p>
        </p:txBody>
      </p:sp>
      <p:sp>
        <p:nvSpPr>
          <p:cNvPr id="235" name="Google Shape;235;p14"/>
          <p:cNvSpPr txBox="1"/>
          <p:nvPr/>
        </p:nvSpPr>
        <p:spPr>
          <a:xfrm>
            <a:off x="8362225" y="2231735"/>
            <a:ext cx="3393000" cy="26781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Deep learning pipelines for:</a:t>
            </a:r>
            <a:endParaRPr/>
          </a:p>
          <a:p>
            <a:pPr indent="-285750" lvl="1" marL="7429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Duplicate issue detection</a:t>
            </a:r>
            <a:endParaRPr/>
          </a:p>
          <a:p>
            <a:pPr indent="-285750" lvl="1" marL="7429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Hate speech &amp; abusive language detection</a:t>
            </a:r>
            <a:endParaRPr/>
          </a:p>
          <a:p>
            <a:pPr indent="-285750" lvl="1" marL="7429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Topic classification &amp; sentiment analysis</a:t>
            </a:r>
            <a:endParaRPr/>
          </a:p>
          <a:p>
            <a:pPr indent="-285750" lvl="0" marL="285750" marR="0" rtl="0" algn="l">
              <a:spcBef>
                <a:spcPts val="0"/>
              </a:spcBef>
              <a:spcAft>
                <a:spcPts val="0"/>
              </a:spcAft>
              <a:buClr>
                <a:schemeClr val="dk1"/>
              </a:buClr>
              <a:buSzPts val="1400"/>
              <a:buFont typeface="Arial"/>
              <a:buChar char="•"/>
            </a:pPr>
            <a:r>
              <a:rPr lang="en-US">
                <a:solidFill>
                  <a:schemeClr val="dk1"/>
                </a:solidFill>
                <a:latin typeface="Calibri"/>
                <a:ea typeface="Calibri"/>
                <a:cs typeface="Calibri"/>
                <a:sym typeface="Calibri"/>
              </a:rPr>
              <a:t>Fine Tuned BERT for issue and component classification</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Reduces moderator load by &gt;60% through automated pre-filtering.</a:t>
            </a:r>
            <a:endParaRPr/>
          </a:p>
          <a:p>
            <a:pPr indent="-196850" lvl="1" marL="742950" marR="0" rtl="0" algn="l">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196850" lvl="1" marL="742950" marR="0" rtl="0" algn="l">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236" name="Google Shape;236;p14"/>
          <p:cNvPicPr preferRelativeResize="0"/>
          <p:nvPr/>
        </p:nvPicPr>
        <p:blipFill rotWithShape="1">
          <a:blip r:embed="rId4">
            <a:alphaModFix/>
          </a:blip>
          <a:srcRect b="0" l="0" r="0" t="0"/>
          <a:stretch/>
        </p:blipFill>
        <p:spPr>
          <a:xfrm>
            <a:off x="3377320" y="3466145"/>
            <a:ext cx="952500" cy="952500"/>
          </a:xfrm>
          <a:prstGeom prst="rect">
            <a:avLst/>
          </a:prstGeom>
          <a:noFill/>
          <a:ln>
            <a:noFill/>
          </a:ln>
        </p:spPr>
      </p:pic>
      <p:pic>
        <p:nvPicPr>
          <p:cNvPr id="237" name="Google Shape;237;p14"/>
          <p:cNvPicPr preferRelativeResize="0"/>
          <p:nvPr/>
        </p:nvPicPr>
        <p:blipFill rotWithShape="1">
          <a:blip r:embed="rId5">
            <a:alphaModFix/>
          </a:blip>
          <a:srcRect b="0" l="0" r="0" t="0"/>
          <a:stretch/>
        </p:blipFill>
        <p:spPr>
          <a:xfrm>
            <a:off x="2978283" y="417721"/>
            <a:ext cx="1393455" cy="1393455"/>
          </a:xfrm>
          <a:prstGeom prst="rect">
            <a:avLst/>
          </a:prstGeom>
          <a:noFill/>
          <a:ln>
            <a:noFill/>
          </a:ln>
        </p:spPr>
      </p:pic>
      <p:pic>
        <p:nvPicPr>
          <p:cNvPr id="238" name="Google Shape;238;p14"/>
          <p:cNvPicPr preferRelativeResize="0"/>
          <p:nvPr/>
        </p:nvPicPr>
        <p:blipFill rotWithShape="1">
          <a:blip r:embed="rId6">
            <a:alphaModFix/>
          </a:blip>
          <a:srcRect b="0" l="0" r="0" t="0"/>
          <a:stretch/>
        </p:blipFill>
        <p:spPr>
          <a:xfrm>
            <a:off x="7172496" y="3429000"/>
            <a:ext cx="952500" cy="952500"/>
          </a:xfrm>
          <a:prstGeom prst="rect">
            <a:avLst/>
          </a:prstGeom>
          <a:noFill/>
          <a:ln>
            <a:noFill/>
          </a:ln>
        </p:spPr>
      </p:pic>
      <p:pic>
        <p:nvPicPr>
          <p:cNvPr id="239" name="Google Shape;239;p14"/>
          <p:cNvPicPr preferRelativeResize="0"/>
          <p:nvPr/>
        </p:nvPicPr>
        <p:blipFill rotWithShape="1">
          <a:blip r:embed="rId7">
            <a:alphaModFix/>
          </a:blip>
          <a:srcRect b="0" l="0" r="0" t="0"/>
          <a:stretch/>
        </p:blipFill>
        <p:spPr>
          <a:xfrm>
            <a:off x="7290170" y="518806"/>
            <a:ext cx="952500" cy="952500"/>
          </a:xfrm>
          <a:prstGeom prst="rect">
            <a:avLst/>
          </a:prstGeom>
          <a:noFill/>
          <a:ln>
            <a:noFill/>
          </a:ln>
        </p:spPr>
      </p:pic>
      <p:pic>
        <p:nvPicPr>
          <p:cNvPr id="240" name="Google Shape;240;p14"/>
          <p:cNvPicPr preferRelativeResize="0"/>
          <p:nvPr/>
        </p:nvPicPr>
        <p:blipFill rotWithShape="1">
          <a:blip r:embed="rId8">
            <a:alphaModFix/>
          </a:blip>
          <a:srcRect b="0" l="0" r="0" t="0"/>
          <a:stretch/>
        </p:blipFill>
        <p:spPr>
          <a:xfrm>
            <a:off x="11161102" y="1331005"/>
            <a:ext cx="952500" cy="952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0" y="253480"/>
            <a:ext cx="12192000" cy="77628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Comments by Supervisor</a:t>
            </a:r>
            <a:endParaRPr/>
          </a:p>
        </p:txBody>
      </p:sp>
      <p:pic>
        <p:nvPicPr>
          <p:cNvPr id="246" name="Google Shape;246;p15"/>
          <p:cNvPicPr preferRelativeResize="0"/>
          <p:nvPr>
            <p:ph idx="1" type="body"/>
          </p:nvPr>
        </p:nvPicPr>
        <p:blipFill rotWithShape="1">
          <a:blip r:embed="rId3">
            <a:alphaModFix/>
          </a:blip>
          <a:srcRect b="0" l="0" r="0" t="0"/>
          <a:stretch/>
        </p:blipFill>
        <p:spPr>
          <a:xfrm>
            <a:off x="10964990" y="134760"/>
            <a:ext cx="980994" cy="972680"/>
          </a:xfrm>
          <a:prstGeom prst="rect">
            <a:avLst/>
          </a:prstGeom>
          <a:noFill/>
          <a:ln>
            <a:noFill/>
          </a:ln>
        </p:spPr>
      </p:pic>
      <p:pic>
        <p:nvPicPr>
          <p:cNvPr id="247" name="Google Shape;247;p15"/>
          <p:cNvPicPr preferRelativeResize="0"/>
          <p:nvPr/>
        </p:nvPicPr>
        <p:blipFill rotWithShape="1">
          <a:blip r:embed="rId4">
            <a:alphaModFix/>
          </a:blip>
          <a:srcRect b="25449" l="0" r="0" t="8382"/>
          <a:stretch/>
        </p:blipFill>
        <p:spPr>
          <a:xfrm>
            <a:off x="6450349" y="1296024"/>
            <a:ext cx="4514641" cy="5308496"/>
          </a:xfrm>
          <a:prstGeom prst="rect">
            <a:avLst/>
          </a:prstGeom>
          <a:noFill/>
          <a:ln>
            <a:noFill/>
          </a:ln>
        </p:spPr>
      </p:pic>
      <p:pic>
        <p:nvPicPr>
          <p:cNvPr descr="A piece of paper with writing on it&#10;&#10;AI-generated content may be incorrect." id="248" name="Google Shape;248;p15"/>
          <p:cNvPicPr preferRelativeResize="0"/>
          <p:nvPr/>
        </p:nvPicPr>
        <p:blipFill rotWithShape="1">
          <a:blip r:embed="rId5">
            <a:alphaModFix/>
          </a:blip>
          <a:srcRect b="23987" l="0" r="0" t="13210"/>
          <a:stretch/>
        </p:blipFill>
        <p:spPr>
          <a:xfrm>
            <a:off x="424129" y="1296024"/>
            <a:ext cx="4660619" cy="52036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2021-08-06T15:24:41Z</dcterms:created>
  <dc:creator>Lenovo</dc:creator>
</cp:coreProperties>
</file>